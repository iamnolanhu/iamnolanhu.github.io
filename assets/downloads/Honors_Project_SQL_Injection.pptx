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43891200" cy="32918400"/>
  <p:notesSz cx="6858000" cy="9144000"/>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0368">
          <p15:clr>
            <a:srgbClr val="A4A3A4"/>
          </p15:clr>
        </p15:guide>
        <p15:guide id="2" pos="1382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hargushoghli" initials="k" lastIdx="8" clrIdx="0"/>
  <p:cmAuthor id="1" name="Nolan Hu" initials="NH"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p:scale>
          <a:sx n="28" d="100"/>
          <a:sy n="28" d="100"/>
        </p:scale>
        <p:origin x="-1128" y="320"/>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interSettings" Target="printerSettings/printerSettings1.bin"/><Relationship Id="rId4" Type="http://schemas.openxmlformats.org/officeDocument/2006/relationships/commentAuthors" Target="commentAuthors.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smtClean="0"/>
              <a:t>Click to edit Master title style</a:t>
            </a:r>
            <a:endParaRPr lang="en-US"/>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BEBB6A7-1D51-49C0-AB41-228FF5629CCB}" type="datetimeFigureOut">
              <a:rPr lang="en-US" smtClean="0"/>
              <a:pPr/>
              <a:t>12/18/14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3778744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EBB6A7-1D51-49C0-AB41-228FF5629CCB}" type="datetimeFigureOut">
              <a:rPr lang="en-US" smtClean="0"/>
              <a:pPr/>
              <a:t>12/18/14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4046080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2"/>
            <a:ext cx="37307520" cy="6537960"/>
          </a:xfrm>
        </p:spPr>
        <p:txBody>
          <a:bodyPr anchor="t"/>
          <a:lstStyle>
            <a:lvl1pPr algn="l">
              <a:defRPr sz="19200" b="1" cap="all"/>
            </a:lvl1pPr>
          </a:lstStyle>
          <a:p>
            <a:r>
              <a:rPr lang="en-US" smtClean="0"/>
              <a:t>Click to edit Master title style</a:t>
            </a:r>
            <a:endParaRPr lang="en-US"/>
          </a:p>
        </p:txBody>
      </p:sp>
      <p:sp>
        <p:nvSpPr>
          <p:cNvPr id="3" name="Text Placeholder 2"/>
          <p:cNvSpPr>
            <a:spLocks noGrp="1"/>
          </p:cNvSpPr>
          <p:nvPr>
            <p:ph type="body" idx="1"/>
          </p:nvPr>
        </p:nvSpPr>
        <p:spPr>
          <a:xfrm>
            <a:off x="3467102" y="13952225"/>
            <a:ext cx="37307520" cy="7200898"/>
          </a:xfr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BEBB6A7-1D51-49C0-AB41-228FF5629CCB}" type="datetimeFigureOut">
              <a:rPr lang="en-US" smtClean="0"/>
              <a:pPr/>
              <a:t>12/18/14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384269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194560" y="7680963"/>
            <a:ext cx="19385280" cy="2172462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2311360" y="7680963"/>
            <a:ext cx="19385280" cy="2172462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BEBB6A7-1D51-49C0-AB41-228FF5629CCB}" type="datetimeFigureOut">
              <a:rPr lang="en-US" smtClean="0"/>
              <a:pPr/>
              <a:t>12/18/14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1512373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194560" y="7368542"/>
            <a:ext cx="19392902"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smtClean="0"/>
              <a:t>Click to edit Master text styles</a:t>
            </a:r>
          </a:p>
        </p:txBody>
      </p:sp>
      <p:sp>
        <p:nvSpPr>
          <p:cNvPr id="4" name="Content Placeholder 3"/>
          <p:cNvSpPr>
            <a:spLocks noGrp="1"/>
          </p:cNvSpPr>
          <p:nvPr>
            <p:ph sz="half" idx="2"/>
          </p:nvPr>
        </p:nvSpPr>
        <p:spPr>
          <a:xfrm>
            <a:off x="2194560" y="10439400"/>
            <a:ext cx="19392902"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22296122" y="7368542"/>
            <a:ext cx="19400520"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smtClean="0"/>
              <a:t>Click to edit Master text styles</a:t>
            </a:r>
          </a:p>
        </p:txBody>
      </p:sp>
      <p:sp>
        <p:nvSpPr>
          <p:cNvPr id="6" name="Content Placeholder 5"/>
          <p:cNvSpPr>
            <a:spLocks noGrp="1"/>
          </p:cNvSpPr>
          <p:nvPr>
            <p:ph sz="quarter" idx="4"/>
          </p:nvPr>
        </p:nvSpPr>
        <p:spPr>
          <a:xfrm>
            <a:off x="22296122" y="10439400"/>
            <a:ext cx="19400520"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BEBB6A7-1D51-49C0-AB41-228FF5629CCB}" type="datetimeFigureOut">
              <a:rPr lang="en-US" smtClean="0"/>
              <a:pPr/>
              <a:t>12/18/14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4256247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BEBB6A7-1D51-49C0-AB41-228FF5629CCB}" type="datetimeFigureOut">
              <a:rPr lang="en-US" smtClean="0"/>
              <a:pPr/>
              <a:t>12/18/14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286945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EBB6A7-1D51-49C0-AB41-228FF5629CCB}" type="datetimeFigureOut">
              <a:rPr lang="en-US" smtClean="0"/>
              <a:pPr/>
              <a:t>12/18/14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2016412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2" cy="5577840"/>
          </a:xfrm>
        </p:spPr>
        <p:txBody>
          <a:bodyPr anchor="b"/>
          <a:lstStyle>
            <a:lvl1pPr algn="l">
              <a:defRPr sz="9600" b="1"/>
            </a:lvl1pPr>
          </a:lstStyle>
          <a:p>
            <a:r>
              <a:rPr lang="en-US" smtClean="0"/>
              <a:t>Click to edit Master title style</a:t>
            </a:r>
            <a:endParaRPr lang="en-US"/>
          </a:p>
        </p:txBody>
      </p:sp>
      <p:sp>
        <p:nvSpPr>
          <p:cNvPr id="3" name="Content Placeholder 2"/>
          <p:cNvSpPr>
            <a:spLocks noGrp="1"/>
          </p:cNvSpPr>
          <p:nvPr>
            <p:ph idx="1"/>
          </p:nvPr>
        </p:nvSpPr>
        <p:spPr>
          <a:xfrm>
            <a:off x="17160240" y="1310643"/>
            <a:ext cx="24536400" cy="28094942"/>
          </a:xfr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2194563" y="6888483"/>
            <a:ext cx="14439902" cy="22517102"/>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BEBB6A7-1D51-49C0-AB41-228FF5629CCB}" type="datetimeFigureOut">
              <a:rPr lang="en-US" smtClean="0"/>
              <a:pPr/>
              <a:t>12/18/14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1768642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0"/>
            <a:ext cx="26334720" cy="2720342"/>
          </a:xfrm>
        </p:spPr>
        <p:txBody>
          <a:bodyPr anchor="b"/>
          <a:lstStyle>
            <a:lvl1pPr algn="l">
              <a:defRPr sz="9600" b="1"/>
            </a:lvl1pPr>
          </a:lstStyle>
          <a:p>
            <a:r>
              <a:rPr lang="en-US" smtClean="0"/>
              <a:t>Click to edit Master title style</a:t>
            </a:r>
            <a:endParaRPr lang="en-US"/>
          </a:p>
        </p:txBody>
      </p:sp>
      <p:sp>
        <p:nvSpPr>
          <p:cNvPr id="3" name="Picture Placeholder 2"/>
          <p:cNvSpPr>
            <a:spLocks noGrp="1"/>
          </p:cNvSpPr>
          <p:nvPr>
            <p:ph type="pic" idx="1"/>
          </p:nvPr>
        </p:nvSpPr>
        <p:spPr>
          <a:xfrm>
            <a:off x="8602982" y="2941320"/>
            <a:ext cx="26334720" cy="19751040"/>
          </a:xfrm>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a:p>
        </p:txBody>
      </p:sp>
      <p:sp>
        <p:nvSpPr>
          <p:cNvPr id="4" name="Text Placeholder 3"/>
          <p:cNvSpPr>
            <a:spLocks noGrp="1"/>
          </p:cNvSpPr>
          <p:nvPr>
            <p:ph type="body" sz="half" idx="2"/>
          </p:nvPr>
        </p:nvSpPr>
        <p:spPr>
          <a:xfrm>
            <a:off x="8602982" y="25763222"/>
            <a:ext cx="26334720" cy="3863338"/>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BEBB6A7-1D51-49C0-AB41-228FF5629CCB}" type="datetimeFigureOut">
              <a:rPr lang="en-US" smtClean="0"/>
              <a:pPr/>
              <a:t>12/18/14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2634289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EBB6A7-1D51-49C0-AB41-228FF5629CCB}" type="datetimeFigureOut">
              <a:rPr lang="en-US" smtClean="0"/>
              <a:pPr/>
              <a:t>12/18/14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733984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120" y="1318265"/>
            <a:ext cx="9875520" cy="2808732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194560" y="1318265"/>
            <a:ext cx="28895040" cy="2808732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EBB6A7-1D51-49C0-AB41-228FF5629CCB}" type="datetimeFigureOut">
              <a:rPr lang="en-US" smtClean="0"/>
              <a:pPr/>
              <a:t>12/18/14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5F5BCC-2916-4FA5-9FBD-9CE4BCD55AAC}" type="slidenum">
              <a:rPr lang="en-US" smtClean="0"/>
              <a:pPr/>
              <a:t>‹#›</a:t>
            </a:fld>
            <a:endParaRPr lang="en-US"/>
          </a:p>
        </p:txBody>
      </p:sp>
    </p:spTree>
    <p:extLst>
      <p:ext uri="{BB962C8B-B14F-4D97-AF65-F5344CB8AC3E}">
        <p14:creationId xmlns:p14="http://schemas.microsoft.com/office/powerpoint/2010/main" val="2007209490"/>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438912" tIns="219456" rIns="438912" bIns="219456"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2194560" y="7680963"/>
            <a:ext cx="39502080" cy="21724622"/>
          </a:xfrm>
          <a:prstGeom prst="rect">
            <a:avLst/>
          </a:prstGeom>
        </p:spPr>
        <p:txBody>
          <a:bodyPr vert="horz" lIns="438912" tIns="219456" rIns="438912" bIns="219456"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2194560" y="30510482"/>
            <a:ext cx="10241280" cy="1752600"/>
          </a:xfrm>
          <a:prstGeom prst="rect">
            <a:avLst/>
          </a:prstGeom>
        </p:spPr>
        <p:txBody>
          <a:bodyPr vert="horz" lIns="438912" tIns="219456" rIns="438912" bIns="219456" rtlCol="0" anchor="ctr"/>
          <a:lstStyle>
            <a:lvl1pPr algn="l">
              <a:defRPr sz="5800">
                <a:solidFill>
                  <a:schemeClr val="tx1">
                    <a:tint val="75000"/>
                  </a:schemeClr>
                </a:solidFill>
              </a:defRPr>
            </a:lvl1pPr>
          </a:lstStyle>
          <a:p>
            <a:fld id="{4BEBB6A7-1D51-49C0-AB41-228FF5629CCB}" type="datetimeFigureOut">
              <a:rPr lang="en-US" smtClean="0"/>
              <a:pPr/>
              <a:t>12/18/14</a:t>
            </a:fld>
            <a:endParaRPr lang="en-US"/>
          </a:p>
        </p:txBody>
      </p:sp>
      <p:sp>
        <p:nvSpPr>
          <p:cNvPr id="5" name="Footer Placeholder 4"/>
          <p:cNvSpPr>
            <a:spLocks noGrp="1"/>
          </p:cNvSpPr>
          <p:nvPr>
            <p:ph type="ftr" sz="quarter" idx="3"/>
          </p:nvPr>
        </p:nvSpPr>
        <p:spPr>
          <a:xfrm>
            <a:off x="14996160" y="30510482"/>
            <a:ext cx="13898880" cy="1752600"/>
          </a:xfrm>
          <a:prstGeom prst="rect">
            <a:avLst/>
          </a:prstGeom>
        </p:spPr>
        <p:txBody>
          <a:bodyPr vert="horz" lIns="438912" tIns="219456" rIns="438912" bIns="219456" rtlCol="0" anchor="ctr"/>
          <a:lstStyle>
            <a:lvl1pPr algn="ctr">
              <a:defRPr sz="5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2"/>
            <a:ext cx="10241280" cy="1752600"/>
          </a:xfrm>
          <a:prstGeom prst="rect">
            <a:avLst/>
          </a:prstGeom>
        </p:spPr>
        <p:txBody>
          <a:bodyPr vert="horz" lIns="438912" tIns="219456" rIns="438912" bIns="219456" rtlCol="0" anchor="ctr"/>
          <a:lstStyle>
            <a:lvl1pPr algn="r">
              <a:defRPr sz="5800">
                <a:solidFill>
                  <a:schemeClr val="tx1">
                    <a:tint val="75000"/>
                  </a:schemeClr>
                </a:solidFill>
              </a:defRPr>
            </a:lvl1pPr>
          </a:lstStyle>
          <a:p>
            <a:fld id="{775F5BCC-2916-4FA5-9FBD-9CE4BCD55AAC}" type="slidenum">
              <a:rPr lang="en-US" smtClean="0"/>
              <a:pPr/>
              <a:t>‹#›</a:t>
            </a:fld>
            <a:endParaRPr lang="en-US"/>
          </a:p>
        </p:txBody>
      </p:sp>
    </p:spTree>
    <p:extLst>
      <p:ext uri="{BB962C8B-B14F-4D97-AF65-F5344CB8AC3E}">
        <p14:creationId xmlns:p14="http://schemas.microsoft.com/office/powerpoint/2010/main" val="42848137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9120" rtl="0" eaLnBrk="1" latinLnBrk="0" hangingPunct="1">
        <a:spcBef>
          <a:spcPct val="0"/>
        </a:spcBef>
        <a:buNone/>
        <a:defRPr sz="21100" kern="1200">
          <a:solidFill>
            <a:schemeClr val="tx1"/>
          </a:solidFill>
          <a:latin typeface="+mj-lt"/>
          <a:ea typeface="+mj-ea"/>
          <a:cs typeface="+mj-cs"/>
        </a:defRPr>
      </a:lvl1pPr>
    </p:titleStyle>
    <p:bodyStyle>
      <a:lvl1pPr marL="1645920" indent="-1645920" algn="l" defTabSz="4389120" rtl="0" eaLnBrk="1" latinLnBrk="0" hangingPunct="1">
        <a:spcBef>
          <a:spcPct val="20000"/>
        </a:spcBef>
        <a:buFont typeface="Arial" panose="020B0604020202020204" pitchFamily="34" charset="0"/>
        <a:buChar char="•"/>
        <a:defRPr sz="15400" kern="1200">
          <a:solidFill>
            <a:schemeClr val="tx1"/>
          </a:solidFill>
          <a:latin typeface="+mn-lt"/>
          <a:ea typeface="+mn-ea"/>
          <a:cs typeface="+mn-cs"/>
        </a:defRPr>
      </a:lvl1pPr>
      <a:lvl2pPr marL="3566160" indent="-1371600" algn="l" defTabSz="4389120" rtl="0" eaLnBrk="1" latinLnBrk="0" hangingPunct="1">
        <a:spcBef>
          <a:spcPct val="20000"/>
        </a:spcBef>
        <a:buFont typeface="Arial" panose="020B0604020202020204" pitchFamily="34" charset="0"/>
        <a:buChar char="–"/>
        <a:defRPr sz="134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20204" pitchFamily="34" charset="0"/>
        <a:buChar char="•"/>
        <a:defRPr sz="11500" kern="1200">
          <a:solidFill>
            <a:schemeClr val="tx1"/>
          </a:solidFill>
          <a:latin typeface="+mn-lt"/>
          <a:ea typeface="+mn-ea"/>
          <a:cs typeface="+mn-cs"/>
        </a:defRPr>
      </a:lvl3pPr>
      <a:lvl4pPr marL="768096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4pPr>
      <a:lvl5pPr marL="987552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5pPr>
      <a:lvl6pPr marL="1207008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6pPr>
      <a:lvl7pPr marL="1426464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7pPr>
      <a:lvl8pPr marL="1645920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8pPr>
      <a:lvl9pPr marL="1865376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9pPr>
    </p:bodyStyle>
    <p:other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5" name="Rounded Rectangle 4"/>
          <p:cNvSpPr/>
          <p:nvPr/>
        </p:nvSpPr>
        <p:spPr bwMode="auto">
          <a:xfrm>
            <a:off x="1371600" y="1600200"/>
            <a:ext cx="41148000" cy="3899646"/>
          </a:xfrm>
          <a:prstGeom prst="roundRect">
            <a:avLst/>
          </a:prstGeom>
          <a:solidFill>
            <a:srgbClr val="FFFFFF"/>
          </a:solidFill>
          <a:ln w="9525"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a:lstStyle>
            <a:lvl1pPr defTabSz="3814763">
              <a:defRPr sz="10000">
                <a:solidFill>
                  <a:schemeClr val="tx1"/>
                </a:solidFill>
                <a:latin typeface="Times New Roman" pitchFamily="18" charset="0"/>
                <a:cs typeface="Arial" charset="0"/>
              </a:defRPr>
            </a:lvl1pPr>
            <a:lvl2pPr marL="742950" indent="-285750" defTabSz="3814763">
              <a:defRPr sz="10000">
                <a:solidFill>
                  <a:schemeClr val="tx1"/>
                </a:solidFill>
                <a:latin typeface="Times New Roman" pitchFamily="18" charset="0"/>
                <a:cs typeface="Arial" charset="0"/>
              </a:defRPr>
            </a:lvl2pPr>
            <a:lvl3pPr marL="1143000" indent="-228600" defTabSz="3814763">
              <a:defRPr sz="10000">
                <a:solidFill>
                  <a:schemeClr val="tx1"/>
                </a:solidFill>
                <a:latin typeface="Times New Roman" pitchFamily="18" charset="0"/>
                <a:cs typeface="Arial" charset="0"/>
              </a:defRPr>
            </a:lvl3pPr>
            <a:lvl4pPr marL="1600200" indent="-228600" defTabSz="3814763">
              <a:defRPr sz="10000">
                <a:solidFill>
                  <a:schemeClr val="tx1"/>
                </a:solidFill>
                <a:latin typeface="Times New Roman" pitchFamily="18" charset="0"/>
                <a:cs typeface="Arial" charset="0"/>
              </a:defRPr>
            </a:lvl4pPr>
            <a:lvl5pPr marL="2057400" indent="-228600" defTabSz="3814763">
              <a:defRPr sz="10000">
                <a:solidFill>
                  <a:schemeClr val="tx1"/>
                </a:solidFill>
                <a:latin typeface="Times New Roman" pitchFamily="18" charset="0"/>
                <a:cs typeface="Arial" charset="0"/>
              </a:defRPr>
            </a:lvl5pPr>
            <a:lvl6pPr marL="2514600" indent="-228600" defTabSz="3814763" fontAlgn="base">
              <a:spcBef>
                <a:spcPct val="0"/>
              </a:spcBef>
              <a:spcAft>
                <a:spcPct val="0"/>
              </a:spcAft>
              <a:defRPr sz="10000">
                <a:solidFill>
                  <a:schemeClr val="tx1"/>
                </a:solidFill>
                <a:latin typeface="Times New Roman" pitchFamily="18" charset="0"/>
                <a:cs typeface="Arial" charset="0"/>
              </a:defRPr>
            </a:lvl6pPr>
            <a:lvl7pPr marL="2971800" indent="-228600" defTabSz="3814763" fontAlgn="base">
              <a:spcBef>
                <a:spcPct val="0"/>
              </a:spcBef>
              <a:spcAft>
                <a:spcPct val="0"/>
              </a:spcAft>
              <a:defRPr sz="10000">
                <a:solidFill>
                  <a:schemeClr val="tx1"/>
                </a:solidFill>
                <a:latin typeface="Times New Roman" pitchFamily="18" charset="0"/>
                <a:cs typeface="Arial" charset="0"/>
              </a:defRPr>
            </a:lvl7pPr>
            <a:lvl8pPr marL="3429000" indent="-228600" defTabSz="3814763" fontAlgn="base">
              <a:spcBef>
                <a:spcPct val="0"/>
              </a:spcBef>
              <a:spcAft>
                <a:spcPct val="0"/>
              </a:spcAft>
              <a:defRPr sz="10000">
                <a:solidFill>
                  <a:schemeClr val="tx1"/>
                </a:solidFill>
                <a:latin typeface="Times New Roman" pitchFamily="18" charset="0"/>
                <a:cs typeface="Arial" charset="0"/>
              </a:defRPr>
            </a:lvl8pPr>
            <a:lvl9pPr marL="3886200" indent="-228600" defTabSz="3814763" fontAlgn="base">
              <a:spcBef>
                <a:spcPct val="0"/>
              </a:spcBef>
              <a:spcAft>
                <a:spcPct val="0"/>
              </a:spcAft>
              <a:defRPr sz="10000">
                <a:solidFill>
                  <a:schemeClr val="tx1"/>
                </a:solidFill>
                <a:latin typeface="Times New Roman" pitchFamily="18" charset="0"/>
                <a:cs typeface="Arial" charset="0"/>
              </a:defRPr>
            </a:lvl9pPr>
          </a:lstStyle>
          <a:p>
            <a:pPr marL="0" marR="0" lvl="0" indent="0" defTabSz="3814763" eaLnBrk="1" fontAlgn="base" latinLnBrk="0" hangingPunct="1">
              <a:lnSpc>
                <a:spcPct val="100000"/>
              </a:lnSpc>
              <a:spcBef>
                <a:spcPct val="0"/>
              </a:spcBef>
              <a:spcAft>
                <a:spcPct val="0"/>
              </a:spcAft>
              <a:buClrTx/>
              <a:buSzTx/>
              <a:buFontTx/>
              <a:buNone/>
              <a:tabLst/>
              <a:defRPr/>
            </a:pPr>
            <a:endParaRPr kumimoji="0" lang="en-US" altLang="en-US" sz="10000" b="0" i="0" u="none" strike="noStrike" kern="0" cap="none" spc="0" normalizeH="0" baseline="0" noProof="0" smtClean="0">
              <a:ln>
                <a:noFill/>
              </a:ln>
              <a:solidFill>
                <a:srgbClr val="000000"/>
              </a:solidFill>
              <a:effectLst/>
              <a:uLnTx/>
              <a:uFillTx/>
              <a:latin typeface="Times New Roman" pitchFamily="18" charset="0"/>
              <a:cs typeface="Arial" charset="0"/>
            </a:endParaRPr>
          </a:p>
        </p:txBody>
      </p:sp>
      <p:sp>
        <p:nvSpPr>
          <p:cNvPr id="2" name="TextBox 1"/>
          <p:cNvSpPr txBox="1"/>
          <p:nvPr/>
        </p:nvSpPr>
        <p:spPr>
          <a:xfrm>
            <a:off x="10210800" y="2133600"/>
            <a:ext cx="22098000" cy="2862322"/>
          </a:xfrm>
          <a:prstGeom prst="rect">
            <a:avLst/>
          </a:prstGeom>
          <a:noFill/>
        </p:spPr>
        <p:txBody>
          <a:bodyPr wrap="square" rtlCol="0">
            <a:spAutoFit/>
          </a:bodyPr>
          <a:lstStyle/>
          <a:p>
            <a:pPr algn="ctr"/>
            <a:r>
              <a:rPr lang="en-US" sz="7200" dirty="0" smtClean="0">
                <a:latin typeface="Tahoma" panose="020B0604030504040204" pitchFamily="34" charset="0"/>
                <a:ea typeface="Tahoma" panose="020B0604030504040204" pitchFamily="34" charset="0"/>
                <a:cs typeface="Tahoma" panose="020B0604030504040204" pitchFamily="34" charset="0"/>
              </a:rPr>
              <a:t>SQL Injection Attack (SQLIA)</a:t>
            </a:r>
          </a:p>
          <a:p>
            <a:pPr algn="ctr"/>
            <a:r>
              <a:rPr lang="en-US" sz="5400" dirty="0" smtClean="0">
                <a:latin typeface="Tahoma" panose="020B0604030504040204" pitchFamily="34" charset="0"/>
                <a:ea typeface="Tahoma" panose="020B0604030504040204" pitchFamily="34" charset="0"/>
                <a:cs typeface="Tahoma" panose="020B0604030504040204" pitchFamily="34" charset="0"/>
              </a:rPr>
              <a:t>Nolan Hu &amp; Professor </a:t>
            </a:r>
            <a:r>
              <a:rPr lang="en-US" sz="5400" dirty="0" err="1" smtClean="0">
                <a:latin typeface="Tahoma" panose="020B0604030504040204" pitchFamily="34" charset="0"/>
                <a:ea typeface="Tahoma" panose="020B0604030504040204" pitchFamily="34" charset="0"/>
                <a:cs typeface="Tahoma" panose="020B0604030504040204" pitchFamily="34" charset="0"/>
              </a:rPr>
              <a:t>Fangyang</a:t>
            </a:r>
            <a:r>
              <a:rPr lang="en-US" sz="5400" dirty="0" smtClean="0">
                <a:latin typeface="Tahoma" panose="020B0604030504040204" pitchFamily="34" charset="0"/>
                <a:ea typeface="Tahoma" panose="020B0604030504040204" pitchFamily="34" charset="0"/>
                <a:cs typeface="Tahoma" panose="020B0604030504040204" pitchFamily="34" charset="0"/>
              </a:rPr>
              <a:t> </a:t>
            </a:r>
            <a:r>
              <a:rPr lang="en-US" sz="5400" dirty="0" err="1" smtClean="0">
                <a:latin typeface="Tahoma" panose="020B0604030504040204" pitchFamily="34" charset="0"/>
                <a:ea typeface="Tahoma" panose="020B0604030504040204" pitchFamily="34" charset="0"/>
                <a:cs typeface="Tahoma" panose="020B0604030504040204" pitchFamily="34" charset="0"/>
              </a:rPr>
              <a:t>Shen</a:t>
            </a:r>
            <a:endParaRPr lang="en-US" sz="5400" dirty="0" smtClean="0">
              <a:latin typeface="Tahoma" panose="020B0604030504040204" pitchFamily="34" charset="0"/>
              <a:ea typeface="Tahoma" panose="020B0604030504040204" pitchFamily="34" charset="0"/>
              <a:cs typeface="Tahoma" panose="020B0604030504040204" pitchFamily="34" charset="0"/>
            </a:endParaRPr>
          </a:p>
          <a:p>
            <a:pPr algn="ctr"/>
            <a:r>
              <a:rPr lang="en-US" sz="5400" dirty="0" smtClean="0">
                <a:latin typeface="Tahoma" panose="020B0604030504040204" pitchFamily="34" charset="0"/>
                <a:ea typeface="Tahoma" panose="020B0604030504040204" pitchFamily="34" charset="0"/>
                <a:cs typeface="Tahoma" panose="020B0604030504040204" pitchFamily="34" charset="0"/>
              </a:rPr>
              <a:t>New York City College of Technology, Computer Systems Technology</a:t>
            </a:r>
          </a:p>
        </p:txBody>
      </p:sp>
      <p:sp>
        <p:nvSpPr>
          <p:cNvPr id="4" name="Rounded Rectangle 3"/>
          <p:cNvSpPr/>
          <p:nvPr/>
        </p:nvSpPr>
        <p:spPr bwMode="auto">
          <a:xfrm>
            <a:off x="1371600" y="6705600"/>
            <a:ext cx="12801600" cy="7666083"/>
          </a:xfrm>
          <a:prstGeom prst="roundRect">
            <a:avLst/>
          </a:prstGeom>
          <a:solidFill>
            <a:srgbClr val="FFFFFF"/>
          </a:solidFill>
          <a:ln w="9525"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a:lstStyle>
            <a:lvl1pPr defTabSz="3814763">
              <a:defRPr sz="10000">
                <a:solidFill>
                  <a:schemeClr val="tx1"/>
                </a:solidFill>
                <a:latin typeface="Times New Roman" pitchFamily="18" charset="0"/>
                <a:cs typeface="Arial" charset="0"/>
              </a:defRPr>
            </a:lvl1pPr>
            <a:lvl2pPr marL="742950" indent="-285750" defTabSz="3814763">
              <a:defRPr sz="10000">
                <a:solidFill>
                  <a:schemeClr val="tx1"/>
                </a:solidFill>
                <a:latin typeface="Times New Roman" pitchFamily="18" charset="0"/>
                <a:cs typeface="Arial" charset="0"/>
              </a:defRPr>
            </a:lvl2pPr>
            <a:lvl3pPr marL="1143000" indent="-228600" defTabSz="3814763">
              <a:defRPr sz="10000">
                <a:solidFill>
                  <a:schemeClr val="tx1"/>
                </a:solidFill>
                <a:latin typeface="Times New Roman" pitchFamily="18" charset="0"/>
                <a:cs typeface="Arial" charset="0"/>
              </a:defRPr>
            </a:lvl3pPr>
            <a:lvl4pPr marL="1600200" indent="-228600" defTabSz="3814763">
              <a:defRPr sz="10000">
                <a:solidFill>
                  <a:schemeClr val="tx1"/>
                </a:solidFill>
                <a:latin typeface="Times New Roman" pitchFamily="18" charset="0"/>
                <a:cs typeface="Arial" charset="0"/>
              </a:defRPr>
            </a:lvl4pPr>
            <a:lvl5pPr marL="2057400" indent="-228600" defTabSz="3814763">
              <a:defRPr sz="10000">
                <a:solidFill>
                  <a:schemeClr val="tx1"/>
                </a:solidFill>
                <a:latin typeface="Times New Roman" pitchFamily="18" charset="0"/>
                <a:cs typeface="Arial" charset="0"/>
              </a:defRPr>
            </a:lvl5pPr>
            <a:lvl6pPr marL="2514600" indent="-228600" defTabSz="3814763" fontAlgn="base">
              <a:spcBef>
                <a:spcPct val="0"/>
              </a:spcBef>
              <a:spcAft>
                <a:spcPct val="0"/>
              </a:spcAft>
              <a:defRPr sz="10000">
                <a:solidFill>
                  <a:schemeClr val="tx1"/>
                </a:solidFill>
                <a:latin typeface="Times New Roman" pitchFamily="18" charset="0"/>
                <a:cs typeface="Arial" charset="0"/>
              </a:defRPr>
            </a:lvl6pPr>
            <a:lvl7pPr marL="2971800" indent="-228600" defTabSz="3814763" fontAlgn="base">
              <a:spcBef>
                <a:spcPct val="0"/>
              </a:spcBef>
              <a:spcAft>
                <a:spcPct val="0"/>
              </a:spcAft>
              <a:defRPr sz="10000">
                <a:solidFill>
                  <a:schemeClr val="tx1"/>
                </a:solidFill>
                <a:latin typeface="Times New Roman" pitchFamily="18" charset="0"/>
                <a:cs typeface="Arial" charset="0"/>
              </a:defRPr>
            </a:lvl7pPr>
            <a:lvl8pPr marL="3429000" indent="-228600" defTabSz="3814763" fontAlgn="base">
              <a:spcBef>
                <a:spcPct val="0"/>
              </a:spcBef>
              <a:spcAft>
                <a:spcPct val="0"/>
              </a:spcAft>
              <a:defRPr sz="10000">
                <a:solidFill>
                  <a:schemeClr val="tx1"/>
                </a:solidFill>
                <a:latin typeface="Times New Roman" pitchFamily="18" charset="0"/>
                <a:cs typeface="Arial" charset="0"/>
              </a:defRPr>
            </a:lvl8pPr>
            <a:lvl9pPr marL="3886200" indent="-228600" defTabSz="3814763" fontAlgn="base">
              <a:spcBef>
                <a:spcPct val="0"/>
              </a:spcBef>
              <a:spcAft>
                <a:spcPct val="0"/>
              </a:spcAft>
              <a:defRPr sz="10000">
                <a:solidFill>
                  <a:schemeClr val="tx1"/>
                </a:solidFill>
                <a:latin typeface="Times New Roman" pitchFamily="18" charset="0"/>
                <a:cs typeface="Arial" charset="0"/>
              </a:defRPr>
            </a:lvl9pPr>
          </a:lstStyle>
          <a:p>
            <a:r>
              <a:rPr kumimoji="0" lang="en-US" altLang="en-US" sz="32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SQL</a:t>
            </a:r>
            <a:r>
              <a:rPr kumimoji="0" lang="en-US" altLang="en-US" sz="3200" b="0" i="0" u="none" strike="noStrike" kern="0" cap="none" spc="0" normalizeH="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Injection is one of the top ten web application vulnerabilities according to OWASP. The prime objective of an attacker using this exploit is to steal data from an organization. Once an attacker becomes aware that your system is vulnerable to SQL Injection, he has the ability to alter or delete the database. The impact of this vulnerability is critical to an organization and it must be dealt with the highest priority. </a:t>
            </a:r>
          </a:p>
          <a:p>
            <a:r>
              <a:rPr lang="en-US" altLang="en-US" sz="3200" kern="0" noProof="0" dirty="0" smtClean="0">
                <a:solidFill>
                  <a:srgbClr val="000000"/>
                </a:solidFill>
                <a:latin typeface="Tahoma" panose="020B0604030504040204" pitchFamily="34" charset="0"/>
                <a:ea typeface="Tahoma" panose="020B0604030504040204" pitchFamily="34" charset="0"/>
                <a:cs typeface="Tahoma" panose="020B0604030504040204" pitchFamily="34" charset="0"/>
              </a:rPr>
              <a:t>     The aim of this project is to demonstrate how simple this attack can be executed. We use </a:t>
            </a:r>
            <a:r>
              <a:rPr lang="en-US" altLang="en-US" sz="3200" kern="0" noProof="0" dirty="0" err="1" smtClean="0">
                <a:solidFill>
                  <a:srgbClr val="000000"/>
                </a:solidFill>
                <a:latin typeface="Tahoma" panose="020B0604030504040204" pitchFamily="34" charset="0"/>
                <a:ea typeface="Tahoma" panose="020B0604030504040204" pitchFamily="34" charset="0"/>
                <a:cs typeface="Tahoma" panose="020B0604030504040204" pitchFamily="34" charset="0"/>
              </a:rPr>
              <a:t>RandomStorm’s</a:t>
            </a:r>
            <a:r>
              <a:rPr lang="en-US" altLang="en-US" sz="3200" kern="0" noProof="0" dirty="0" smtClean="0">
                <a:solidFill>
                  <a:srgbClr val="000000"/>
                </a:solidFill>
                <a:latin typeface="Tahoma" panose="020B0604030504040204" pitchFamily="34" charset="0"/>
                <a:ea typeface="Tahoma" panose="020B0604030504040204" pitchFamily="34" charset="0"/>
                <a:cs typeface="Tahoma" panose="020B0604030504040204" pitchFamily="34" charset="0"/>
              </a:rPr>
              <a:t> Damn Vulnerable Web Application to setup a vulnerable web application on the </a:t>
            </a:r>
            <a:r>
              <a:rPr lang="en-US" altLang="en-US" sz="3200" kern="0" noProof="0" dirty="0" err="1" smtClean="0">
                <a:solidFill>
                  <a:srgbClr val="000000"/>
                </a:solidFill>
                <a:latin typeface="Tahoma" panose="020B0604030504040204" pitchFamily="34" charset="0"/>
                <a:ea typeface="Tahoma" panose="020B0604030504040204" pitchFamily="34" charset="0"/>
                <a:cs typeface="Tahoma" panose="020B0604030504040204" pitchFamily="34" charset="0"/>
              </a:rPr>
              <a:t>localhost</a:t>
            </a:r>
            <a:r>
              <a:rPr lang="en-US" altLang="en-US" sz="3200" kern="0" noProof="0" dirty="0" smtClean="0">
                <a:solidFill>
                  <a:srgbClr val="000000"/>
                </a:solidFill>
                <a:latin typeface="Tahoma" panose="020B0604030504040204" pitchFamily="34" charset="0"/>
                <a:ea typeface="Tahoma" panose="020B0604030504040204" pitchFamily="34" charset="0"/>
                <a:cs typeface="Tahoma" panose="020B0604030504040204" pitchFamily="34" charset="0"/>
              </a:rPr>
              <a:t>. We also use </a:t>
            </a:r>
            <a:r>
              <a:rPr lang="en-US" altLang="en-US" sz="3200" kern="0" noProof="0" dirty="0" err="1" smtClean="0">
                <a:solidFill>
                  <a:srgbClr val="000000"/>
                </a:solidFill>
                <a:latin typeface="Tahoma" panose="020B0604030504040204" pitchFamily="34" charset="0"/>
                <a:ea typeface="Tahoma" panose="020B0604030504040204" pitchFamily="34" charset="0"/>
                <a:cs typeface="Tahoma" panose="020B0604030504040204" pitchFamily="34" charset="0"/>
              </a:rPr>
              <a:t>sqlmap</a:t>
            </a:r>
            <a:r>
              <a:rPr lang="en-US" altLang="en-US" sz="3200" kern="0" noProof="0" dirty="0" smtClean="0">
                <a:solidFill>
                  <a:srgbClr val="000000"/>
                </a:solidFill>
                <a:latin typeface="Tahoma" panose="020B0604030504040204" pitchFamily="34" charset="0"/>
                <a:ea typeface="Tahoma" panose="020B0604030504040204" pitchFamily="34" charset="0"/>
                <a:cs typeface="Tahoma" panose="020B0604030504040204" pitchFamily="34" charset="0"/>
              </a:rPr>
              <a:t> to automate detecting and </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exploiting </a:t>
            </a:r>
            <a:r>
              <a:rPr lang="en-US" altLang="en-US" sz="3200" kern="0" noProof="0" dirty="0" smtClean="0">
                <a:solidFill>
                  <a:srgbClr val="000000"/>
                </a:solidFill>
                <a:latin typeface="Tahoma" panose="020B0604030504040204" pitchFamily="34" charset="0"/>
                <a:ea typeface="Tahoma" panose="020B0604030504040204" pitchFamily="34" charset="0"/>
                <a:cs typeface="Tahoma" panose="020B0604030504040204" pitchFamily="34" charset="0"/>
              </a:rPr>
              <a:t>SQL Injection. After exploitation, the audience will be presented with ways to defend and prevent the vulnerability. </a:t>
            </a:r>
            <a:endParaRPr kumimoji="0" lang="en-US" altLang="en-US" sz="32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6" name="Rounded Rectangle 5"/>
          <p:cNvSpPr/>
          <p:nvPr/>
        </p:nvSpPr>
        <p:spPr bwMode="auto">
          <a:xfrm>
            <a:off x="15544800" y="6705600"/>
            <a:ext cx="12801600" cy="25908000"/>
          </a:xfrm>
          <a:prstGeom prst="roundRect">
            <a:avLst/>
          </a:prstGeom>
          <a:solidFill>
            <a:srgbClr val="FFFFFF"/>
          </a:solidFill>
          <a:ln w="9525"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a:lstStyle>
            <a:lvl1pPr defTabSz="3814763">
              <a:defRPr sz="10000">
                <a:solidFill>
                  <a:schemeClr val="tx1"/>
                </a:solidFill>
                <a:latin typeface="Times New Roman" pitchFamily="18" charset="0"/>
                <a:cs typeface="Arial" charset="0"/>
              </a:defRPr>
            </a:lvl1pPr>
            <a:lvl2pPr marL="742950" indent="-285750" defTabSz="3814763">
              <a:defRPr sz="10000">
                <a:solidFill>
                  <a:schemeClr val="tx1"/>
                </a:solidFill>
                <a:latin typeface="Times New Roman" pitchFamily="18" charset="0"/>
                <a:cs typeface="Arial" charset="0"/>
              </a:defRPr>
            </a:lvl2pPr>
            <a:lvl3pPr marL="1143000" indent="-228600" defTabSz="3814763">
              <a:defRPr sz="10000">
                <a:solidFill>
                  <a:schemeClr val="tx1"/>
                </a:solidFill>
                <a:latin typeface="Times New Roman" pitchFamily="18" charset="0"/>
                <a:cs typeface="Arial" charset="0"/>
              </a:defRPr>
            </a:lvl3pPr>
            <a:lvl4pPr marL="1600200" indent="-228600" defTabSz="3814763">
              <a:defRPr sz="10000">
                <a:solidFill>
                  <a:schemeClr val="tx1"/>
                </a:solidFill>
                <a:latin typeface="Times New Roman" pitchFamily="18" charset="0"/>
                <a:cs typeface="Arial" charset="0"/>
              </a:defRPr>
            </a:lvl4pPr>
            <a:lvl5pPr marL="2057400" indent="-228600" defTabSz="3814763">
              <a:defRPr sz="10000">
                <a:solidFill>
                  <a:schemeClr val="tx1"/>
                </a:solidFill>
                <a:latin typeface="Times New Roman" pitchFamily="18" charset="0"/>
                <a:cs typeface="Arial" charset="0"/>
              </a:defRPr>
            </a:lvl5pPr>
            <a:lvl6pPr marL="2514600" indent="-228600" defTabSz="3814763" fontAlgn="base">
              <a:spcBef>
                <a:spcPct val="0"/>
              </a:spcBef>
              <a:spcAft>
                <a:spcPct val="0"/>
              </a:spcAft>
              <a:defRPr sz="10000">
                <a:solidFill>
                  <a:schemeClr val="tx1"/>
                </a:solidFill>
                <a:latin typeface="Times New Roman" pitchFamily="18" charset="0"/>
                <a:cs typeface="Arial" charset="0"/>
              </a:defRPr>
            </a:lvl6pPr>
            <a:lvl7pPr marL="2971800" indent="-228600" defTabSz="3814763" fontAlgn="base">
              <a:spcBef>
                <a:spcPct val="0"/>
              </a:spcBef>
              <a:spcAft>
                <a:spcPct val="0"/>
              </a:spcAft>
              <a:defRPr sz="10000">
                <a:solidFill>
                  <a:schemeClr val="tx1"/>
                </a:solidFill>
                <a:latin typeface="Times New Roman" pitchFamily="18" charset="0"/>
                <a:cs typeface="Arial" charset="0"/>
              </a:defRPr>
            </a:lvl7pPr>
            <a:lvl8pPr marL="3429000" indent="-228600" defTabSz="3814763" fontAlgn="base">
              <a:spcBef>
                <a:spcPct val="0"/>
              </a:spcBef>
              <a:spcAft>
                <a:spcPct val="0"/>
              </a:spcAft>
              <a:defRPr sz="10000">
                <a:solidFill>
                  <a:schemeClr val="tx1"/>
                </a:solidFill>
                <a:latin typeface="Times New Roman" pitchFamily="18" charset="0"/>
                <a:cs typeface="Arial" charset="0"/>
              </a:defRPr>
            </a:lvl8pPr>
            <a:lvl9pPr marL="3886200" indent="-228600" defTabSz="3814763" fontAlgn="base">
              <a:spcBef>
                <a:spcPct val="0"/>
              </a:spcBef>
              <a:spcAft>
                <a:spcPct val="0"/>
              </a:spcAft>
              <a:defRPr sz="10000">
                <a:solidFill>
                  <a:schemeClr val="tx1"/>
                </a:solidFill>
                <a:latin typeface="Times New Roman" pitchFamily="18" charset="0"/>
                <a:cs typeface="Arial" charset="0"/>
              </a:defRPr>
            </a:lvl9pPr>
          </a:lstStyle>
          <a:p>
            <a:pPr marL="742950" marR="0" lvl="0" indent="-742950" defTabSz="3814763" eaLnBrk="1" fontAlgn="base" latinLnBrk="0" hangingPunct="1">
              <a:lnSpc>
                <a:spcPct val="100000"/>
              </a:lnSpc>
              <a:spcBef>
                <a:spcPct val="0"/>
              </a:spcBef>
              <a:spcAft>
                <a:spcPct val="0"/>
              </a:spcAft>
              <a:buClrTx/>
              <a:buSzTx/>
              <a:buFont typeface="+mj-lt"/>
              <a:buAutoNum type="arabicPeriod"/>
              <a:tabLst/>
              <a:defRPr/>
            </a:pPr>
            <a:r>
              <a:rPr kumimoji="0" lang="en-US" altLang="en-US" sz="32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Setup a virtual </a:t>
            </a:r>
            <a:r>
              <a:rPr kumimoji="0" lang="en-US" altLang="en-US" sz="3200" b="0" i="0" u="none" strike="noStrike" kern="0" cap="none" spc="0" normalizeH="0" baseline="0" noProof="0" dirty="0" err="1"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pentesting</a:t>
            </a:r>
            <a:r>
              <a:rPr kumimoji="0" lang="en-US" altLang="en-US" sz="32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lab for the demonstration.</a:t>
            </a:r>
            <a:r>
              <a:rPr kumimoji="0" lang="en-US" altLang="en-US" sz="3200" b="0" i="0" u="none" strike="noStrike" kern="0" cap="none" spc="0" normalizeH="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The only hardware equipment being used is a MacBook Air (2014) with OS X Mavericks. We used </a:t>
            </a:r>
            <a:r>
              <a:rPr kumimoji="0" lang="en-US" altLang="en-US" sz="3200" b="0" i="0" u="none" strike="noStrike" kern="0" cap="none" spc="0" normalizeH="0" noProof="0" dirty="0" err="1"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Vm</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ware Fusion to setup the virtual lab environment. </a:t>
            </a:r>
          </a:p>
          <a:p>
            <a:pPr marL="742950" marR="0" lvl="0" indent="-742950" defTabSz="3814763" eaLnBrk="1" fontAlgn="base" latinLnBrk="0" hangingPunct="1">
              <a:lnSpc>
                <a:spcPct val="100000"/>
              </a:lnSpc>
              <a:spcBef>
                <a:spcPct val="0"/>
              </a:spcBef>
              <a:spcAft>
                <a:spcPct val="0"/>
              </a:spcAft>
              <a:buClrTx/>
              <a:buSzTx/>
              <a:buFont typeface="+mj-lt"/>
              <a:buAutoNum type="arabicPeriod"/>
              <a:tabLst/>
              <a:defRPr/>
            </a:pPr>
            <a:r>
              <a:rPr kumimoji="0" lang="en-US" altLang="en-US" sz="32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Download and install the Kali Linux</a:t>
            </a:r>
            <a:r>
              <a:rPr kumimoji="0" lang="en-US" altLang="en-US" sz="3200" b="0" i="0" u="none" strike="noStrike" kern="0" cap="none" spc="0" normalizeH="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1.0.9 ISO on a virtual machine. We move over to work on the new operating system.</a:t>
            </a:r>
            <a:endParaRPr kumimoji="0" lang="en-US" altLang="en-US" sz="32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742950" indent="-742950" fontAlgn="base">
              <a:spcBef>
                <a:spcPct val="0"/>
              </a:spcBef>
              <a:spcAft>
                <a:spcPct val="0"/>
              </a:spcAft>
              <a:buFont typeface="+mj-lt"/>
              <a:buAutoNum type="arabicPeriod"/>
              <a:defRPr/>
            </a:pPr>
            <a:r>
              <a:rPr kumimoji="0" lang="en-US" altLang="en-US" sz="32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Download and extract the </a:t>
            </a: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Damn Vulnerable Web Application (DVWA) </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V1.0.8 </a:t>
            </a:r>
            <a:r>
              <a:rPr kumimoji="0" lang="en-US" altLang="en-US" sz="3200" b="0" i="0" u="none" strike="noStrike" kern="0" cap="none" spc="0" normalizeH="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into the root directory. </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Start apache2 and MySQL and create a </a:t>
            </a:r>
            <a:r>
              <a:rPr lang="en-US" altLang="en-US" sz="3200" kern="0" dirty="0" err="1" smtClean="0">
                <a:solidFill>
                  <a:srgbClr val="000000"/>
                </a:solidFill>
                <a:latin typeface="Tahoma" panose="020B0604030504040204" pitchFamily="34" charset="0"/>
                <a:ea typeface="Tahoma" panose="020B0604030504040204" pitchFamily="34" charset="0"/>
                <a:cs typeface="Tahoma" panose="020B0604030504040204" pitchFamily="34" charset="0"/>
              </a:rPr>
              <a:t>dvwa</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database. On the browser navigate to “http://</a:t>
            </a:r>
            <a:r>
              <a:rPr lang="en-US" altLang="en-US" sz="3200" kern="0" dirty="0" err="1" smtClean="0">
                <a:solidFill>
                  <a:srgbClr val="000000"/>
                </a:solidFill>
                <a:latin typeface="Tahoma" panose="020B0604030504040204" pitchFamily="34" charset="0"/>
                <a:ea typeface="Tahoma" panose="020B0604030504040204" pitchFamily="34" charset="0"/>
                <a:cs typeface="Tahoma" panose="020B0604030504040204" pitchFamily="34" charset="0"/>
              </a:rPr>
              <a:t>locahost</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a:t>
            </a:r>
            <a:r>
              <a:rPr lang="en-US" altLang="en-US" sz="3200" kern="0" dirty="0" err="1" smtClean="0">
                <a:solidFill>
                  <a:srgbClr val="000000"/>
                </a:solidFill>
                <a:latin typeface="Tahoma" panose="020B0604030504040204" pitchFamily="34" charset="0"/>
                <a:ea typeface="Tahoma" panose="020B0604030504040204" pitchFamily="34" charset="0"/>
                <a:cs typeface="Tahoma" panose="020B0604030504040204" pitchFamily="34" charset="0"/>
              </a:rPr>
              <a:t>dvwa</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and login.</a:t>
            </a:r>
          </a:p>
          <a:p>
            <a:pPr marL="742950" indent="-742950" fontAlgn="base">
              <a:spcBef>
                <a:spcPct val="0"/>
              </a:spcBef>
              <a:spcAft>
                <a:spcPct val="0"/>
              </a:spcAft>
              <a:buFont typeface="+mj-lt"/>
              <a:buAutoNum type="arabicPeriod"/>
              <a:defRPr/>
            </a:pPr>
            <a:endParaRPr kumimoji="0" lang="en-US" altLang="en-US" sz="32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742950" indent="-742950" fontAlgn="base">
              <a:spcBef>
                <a:spcPct val="0"/>
              </a:spcBef>
              <a:spcAft>
                <a:spcPct val="0"/>
              </a:spcAft>
              <a:buFont typeface="+mj-lt"/>
              <a:buAutoNum type="arabicPeriod"/>
              <a:defRPr/>
            </a:pPr>
            <a:endPar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indent="-742950" fontAlgn="base">
              <a:spcBef>
                <a:spcPct val="0"/>
              </a:spcBef>
              <a:spcAft>
                <a:spcPct val="0"/>
              </a:spcAft>
              <a:buFont typeface="+mj-lt"/>
              <a:buAutoNum type="arabicPeriod"/>
              <a:defRPr/>
            </a:pPr>
            <a:endParaRPr kumimoji="0" lang="en-US" altLang="en-US" sz="32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742950" indent="-742950" fontAlgn="base">
              <a:spcBef>
                <a:spcPct val="0"/>
              </a:spcBef>
              <a:spcAft>
                <a:spcPct val="0"/>
              </a:spcAft>
              <a:buFont typeface="+mj-lt"/>
              <a:buAutoNum type="arabicPeriod"/>
              <a:defRPr/>
            </a:pPr>
            <a:endPar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indent="-742950" fontAlgn="base">
              <a:spcBef>
                <a:spcPct val="0"/>
              </a:spcBef>
              <a:spcAft>
                <a:spcPct val="0"/>
              </a:spcAft>
              <a:buFont typeface="+mj-lt"/>
              <a:buAutoNum type="arabicPeriod"/>
              <a:defRPr/>
            </a:pPr>
            <a:endParaRPr kumimoji="0" lang="en-US" altLang="en-US" sz="32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742950" indent="-742950" fontAlgn="base">
              <a:spcBef>
                <a:spcPct val="0"/>
              </a:spcBef>
              <a:spcAft>
                <a:spcPct val="0"/>
              </a:spcAft>
              <a:buFont typeface="+mj-lt"/>
              <a:buAutoNum type="arabicPeriod"/>
              <a:defRPr/>
            </a:pPr>
            <a:endPar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indent="-742950" fontAlgn="base">
              <a:spcBef>
                <a:spcPct val="0"/>
              </a:spcBef>
              <a:spcAft>
                <a:spcPct val="0"/>
              </a:spcAft>
              <a:buFont typeface="+mj-lt"/>
              <a:buAutoNum type="arabicPeriod"/>
              <a:defRPr/>
            </a:pPr>
            <a:endParaRPr kumimoji="0" lang="en-US" altLang="en-US" sz="32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742950" indent="-742950" fontAlgn="base">
              <a:spcBef>
                <a:spcPct val="0"/>
              </a:spcBef>
              <a:spcAft>
                <a:spcPct val="0"/>
              </a:spcAft>
              <a:buFont typeface="+mj-lt"/>
              <a:buAutoNum type="arabicPeriod"/>
              <a:defRPr/>
            </a:pPr>
            <a:endPar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indent="-742950" fontAlgn="base">
              <a:spcBef>
                <a:spcPct val="0"/>
              </a:spcBef>
              <a:spcAft>
                <a:spcPct val="0"/>
              </a:spcAft>
              <a:buFont typeface="+mj-lt"/>
              <a:buAutoNum type="arabicPeriod"/>
              <a:defRPr/>
            </a:pPr>
            <a:endParaRPr kumimoji="0" lang="en-US" altLang="en-US" sz="32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742950" indent="-742950" fontAlgn="base">
              <a:spcBef>
                <a:spcPct val="0"/>
              </a:spcBef>
              <a:spcAft>
                <a:spcPct val="0"/>
              </a:spcAft>
              <a:buFont typeface="+mj-lt"/>
              <a:buAutoNum type="arabicPeriod"/>
              <a:defRPr/>
            </a:pPr>
            <a:endPar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indent="-742950" fontAlgn="base">
              <a:spcBef>
                <a:spcPct val="0"/>
              </a:spcBef>
              <a:spcAft>
                <a:spcPct val="0"/>
              </a:spcAft>
              <a:buFont typeface="+mj-lt"/>
              <a:buAutoNum type="arabicPeriod"/>
              <a:defRPr/>
            </a:pPr>
            <a:endParaRPr kumimoji="0" lang="en-US" altLang="en-US" sz="32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742950" indent="-742950" fontAlgn="base">
              <a:spcBef>
                <a:spcPct val="0"/>
              </a:spcBef>
              <a:spcAft>
                <a:spcPct val="0"/>
              </a:spcAft>
              <a:buFont typeface="+mj-lt"/>
              <a:buAutoNum type="arabicPeriod"/>
              <a:defRPr/>
            </a:pPr>
            <a:endPar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indent="-742950" fontAlgn="base">
              <a:spcBef>
                <a:spcPct val="0"/>
              </a:spcBef>
              <a:spcAft>
                <a:spcPct val="0"/>
              </a:spcAft>
              <a:buFont typeface="+mj-lt"/>
              <a:buAutoNum type="arabicPeriod"/>
              <a:defRPr/>
            </a:pPr>
            <a:endParaRPr kumimoji="0" lang="en-US" altLang="en-US" sz="32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742950" indent="-742950" fontAlgn="base">
              <a:spcBef>
                <a:spcPct val="0"/>
              </a:spcBef>
              <a:spcAft>
                <a:spcPct val="0"/>
              </a:spcAft>
              <a:buFont typeface="+mj-lt"/>
              <a:buAutoNum type="arabicPeriod"/>
              <a:defRPr/>
            </a:pPr>
            <a:endPar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indent="-742950" fontAlgn="base">
              <a:spcBef>
                <a:spcPct val="0"/>
              </a:spcBef>
              <a:spcAft>
                <a:spcPct val="0"/>
              </a:spcAft>
              <a:buFont typeface="+mj-lt"/>
              <a:buAutoNum type="arabicPeriod"/>
              <a:defRPr/>
            </a:pPr>
            <a:endParaRPr kumimoji="0" lang="en-US" altLang="en-US" sz="3200" b="0"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a:p>
            <a:pPr fontAlgn="base">
              <a:spcBef>
                <a:spcPct val="0"/>
              </a:spcBef>
              <a:spcAft>
                <a:spcPct val="0"/>
              </a:spcAft>
              <a:defRPr/>
            </a:pPr>
            <a:endParaRPr kumimoji="0" lang="en-US" altLang="en-US" sz="32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a:p>
            <a:pPr marL="742950" indent="-742950" fontAlgn="base">
              <a:spcBef>
                <a:spcPct val="0"/>
              </a:spcBef>
              <a:spcAft>
                <a:spcPct val="0"/>
              </a:spcAft>
              <a:buFont typeface="+mj-lt"/>
              <a:buAutoNum type="arabicPeriod"/>
              <a:defRPr/>
            </a:pP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Obtain the cookie from the browser. Launch the </a:t>
            </a:r>
            <a:r>
              <a:rPr lang="en-US" altLang="en-US" sz="3200" kern="0" dirty="0" err="1" smtClean="0">
                <a:solidFill>
                  <a:srgbClr val="000000"/>
                </a:solidFill>
                <a:latin typeface="Tahoma" panose="020B0604030504040204" pitchFamily="34" charset="0"/>
                <a:ea typeface="Tahoma" panose="020B0604030504040204" pitchFamily="34" charset="0"/>
                <a:cs typeface="Tahoma" panose="020B0604030504040204" pitchFamily="34" charset="0"/>
              </a:rPr>
              <a:t>sqlmap</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script with the </a:t>
            </a: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syntax “</a:t>
            </a:r>
            <a:r>
              <a:rPr lang="en-US" altLang="en-US" sz="3200" kern="0" dirty="0" err="1">
                <a:solidFill>
                  <a:srgbClr val="000000"/>
                </a:solidFill>
                <a:latin typeface="Tahoma" panose="020B0604030504040204" pitchFamily="34" charset="0"/>
                <a:ea typeface="Tahoma" panose="020B0604030504040204" pitchFamily="34" charset="0"/>
                <a:cs typeface="Tahoma" panose="020B0604030504040204" pitchFamily="34" charset="0"/>
              </a:rPr>
              <a:t>sqlmap</a:t>
            </a: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 -u "http://</a:t>
            </a:r>
            <a:r>
              <a:rPr lang="en-US" altLang="en-US" sz="3200" kern="0" dirty="0" err="1">
                <a:solidFill>
                  <a:srgbClr val="000000"/>
                </a:solidFill>
                <a:latin typeface="Tahoma" panose="020B0604030504040204" pitchFamily="34" charset="0"/>
                <a:ea typeface="Tahoma" panose="020B0604030504040204" pitchFamily="34" charset="0"/>
                <a:cs typeface="Tahoma" panose="020B0604030504040204" pitchFamily="34" charset="0"/>
              </a:rPr>
              <a:t>localhost</a:t>
            </a: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a:t>
            </a:r>
            <a:r>
              <a:rPr lang="en-US" altLang="en-US" sz="3200" kern="0" dirty="0" err="1">
                <a:solidFill>
                  <a:srgbClr val="000000"/>
                </a:solidFill>
                <a:latin typeface="Tahoma" panose="020B0604030504040204" pitchFamily="34" charset="0"/>
                <a:ea typeface="Tahoma" panose="020B0604030504040204" pitchFamily="34" charset="0"/>
                <a:cs typeface="Tahoma" panose="020B0604030504040204" pitchFamily="34" charset="0"/>
              </a:rPr>
              <a:t>dvwa</a:t>
            </a: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/vulnerabilities/</a:t>
            </a:r>
            <a:r>
              <a:rPr lang="en-US" altLang="en-US" sz="3200" kern="0" dirty="0" err="1">
                <a:solidFill>
                  <a:srgbClr val="000000"/>
                </a:solidFill>
                <a:latin typeface="Tahoma" panose="020B0604030504040204" pitchFamily="34" charset="0"/>
                <a:ea typeface="Tahoma" panose="020B0604030504040204" pitchFamily="34" charset="0"/>
                <a:cs typeface="Tahoma" panose="020B0604030504040204" pitchFamily="34" charset="0"/>
              </a:rPr>
              <a:t>sqli</a:t>
            </a: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/?id=2&amp;Submit=Submit#" --cookie="PHPSESSID=</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qrgtdh9ct4nhe9apasuml15ec5</a:t>
            </a: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 security=low;" --current-user --current-</a:t>
            </a:r>
            <a:r>
              <a:rPr lang="en-US" altLang="en-US" sz="3200" kern="0" dirty="0" err="1">
                <a:solidFill>
                  <a:srgbClr val="000000"/>
                </a:solidFill>
                <a:latin typeface="Tahoma" panose="020B0604030504040204" pitchFamily="34" charset="0"/>
                <a:ea typeface="Tahoma" panose="020B0604030504040204" pitchFamily="34" charset="0"/>
                <a:cs typeface="Tahoma" panose="020B0604030504040204" pitchFamily="34" charset="0"/>
              </a:rPr>
              <a:t>db</a:t>
            </a: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–dump”. Follow through the prompts and the end result will be all the database contents including the cracked password hashes. </a:t>
            </a:r>
          </a:p>
          <a:p>
            <a:pPr marL="742950" indent="-742950" fontAlgn="base">
              <a:spcBef>
                <a:spcPct val="0"/>
              </a:spcBef>
              <a:spcAft>
                <a:spcPct val="0"/>
              </a:spcAft>
              <a:buFont typeface="+mj-lt"/>
              <a:buAutoNum type="arabicPeriod"/>
              <a:defRPr/>
            </a:pPr>
            <a:endPar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742950" indent="-742950" fontAlgn="base">
              <a:spcBef>
                <a:spcPct val="0"/>
              </a:spcBef>
              <a:spcAft>
                <a:spcPct val="0"/>
              </a:spcAft>
              <a:buFont typeface="+mj-lt"/>
              <a:buAutoNum type="arabicPeriod"/>
              <a:defRPr/>
            </a:pPr>
            <a:endParaRPr kumimoji="0" lang="en-US" altLang="en-US" sz="32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7" name="Rounded Rectangle 6"/>
          <p:cNvSpPr/>
          <p:nvPr/>
        </p:nvSpPr>
        <p:spPr bwMode="auto">
          <a:xfrm>
            <a:off x="1371600" y="15468600"/>
            <a:ext cx="12801600" cy="2743200"/>
          </a:xfrm>
          <a:prstGeom prst="roundRect">
            <a:avLst/>
          </a:prstGeom>
          <a:solidFill>
            <a:srgbClr val="FFFFFF"/>
          </a:solidFill>
          <a:ln w="9525"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a:lstStyle>
            <a:lvl1pPr defTabSz="3814763">
              <a:defRPr sz="10000">
                <a:solidFill>
                  <a:schemeClr val="tx1"/>
                </a:solidFill>
                <a:latin typeface="Times New Roman" pitchFamily="18" charset="0"/>
                <a:cs typeface="Arial" charset="0"/>
              </a:defRPr>
            </a:lvl1pPr>
            <a:lvl2pPr marL="742950" indent="-285750" defTabSz="3814763">
              <a:defRPr sz="10000">
                <a:solidFill>
                  <a:schemeClr val="tx1"/>
                </a:solidFill>
                <a:latin typeface="Times New Roman" pitchFamily="18" charset="0"/>
                <a:cs typeface="Arial" charset="0"/>
              </a:defRPr>
            </a:lvl2pPr>
            <a:lvl3pPr marL="1143000" indent="-228600" defTabSz="3814763">
              <a:defRPr sz="10000">
                <a:solidFill>
                  <a:schemeClr val="tx1"/>
                </a:solidFill>
                <a:latin typeface="Times New Roman" pitchFamily="18" charset="0"/>
                <a:cs typeface="Arial" charset="0"/>
              </a:defRPr>
            </a:lvl3pPr>
            <a:lvl4pPr marL="1600200" indent="-228600" defTabSz="3814763">
              <a:defRPr sz="10000">
                <a:solidFill>
                  <a:schemeClr val="tx1"/>
                </a:solidFill>
                <a:latin typeface="Times New Roman" pitchFamily="18" charset="0"/>
                <a:cs typeface="Arial" charset="0"/>
              </a:defRPr>
            </a:lvl4pPr>
            <a:lvl5pPr marL="2057400" indent="-228600" defTabSz="3814763">
              <a:defRPr sz="10000">
                <a:solidFill>
                  <a:schemeClr val="tx1"/>
                </a:solidFill>
                <a:latin typeface="Times New Roman" pitchFamily="18" charset="0"/>
                <a:cs typeface="Arial" charset="0"/>
              </a:defRPr>
            </a:lvl5pPr>
            <a:lvl6pPr marL="2514600" indent="-228600" defTabSz="3814763" fontAlgn="base">
              <a:spcBef>
                <a:spcPct val="0"/>
              </a:spcBef>
              <a:spcAft>
                <a:spcPct val="0"/>
              </a:spcAft>
              <a:defRPr sz="10000">
                <a:solidFill>
                  <a:schemeClr val="tx1"/>
                </a:solidFill>
                <a:latin typeface="Times New Roman" pitchFamily="18" charset="0"/>
                <a:cs typeface="Arial" charset="0"/>
              </a:defRPr>
            </a:lvl6pPr>
            <a:lvl7pPr marL="2971800" indent="-228600" defTabSz="3814763" fontAlgn="base">
              <a:spcBef>
                <a:spcPct val="0"/>
              </a:spcBef>
              <a:spcAft>
                <a:spcPct val="0"/>
              </a:spcAft>
              <a:defRPr sz="10000">
                <a:solidFill>
                  <a:schemeClr val="tx1"/>
                </a:solidFill>
                <a:latin typeface="Times New Roman" pitchFamily="18" charset="0"/>
                <a:cs typeface="Arial" charset="0"/>
              </a:defRPr>
            </a:lvl7pPr>
            <a:lvl8pPr marL="3429000" indent="-228600" defTabSz="3814763" fontAlgn="base">
              <a:spcBef>
                <a:spcPct val="0"/>
              </a:spcBef>
              <a:spcAft>
                <a:spcPct val="0"/>
              </a:spcAft>
              <a:defRPr sz="10000">
                <a:solidFill>
                  <a:schemeClr val="tx1"/>
                </a:solidFill>
                <a:latin typeface="Times New Roman" pitchFamily="18" charset="0"/>
                <a:cs typeface="Arial" charset="0"/>
              </a:defRPr>
            </a:lvl8pPr>
            <a:lvl9pPr marL="3886200" indent="-228600" defTabSz="3814763" fontAlgn="base">
              <a:spcBef>
                <a:spcPct val="0"/>
              </a:spcBef>
              <a:spcAft>
                <a:spcPct val="0"/>
              </a:spcAft>
              <a:defRPr sz="10000">
                <a:solidFill>
                  <a:schemeClr val="tx1"/>
                </a:solidFill>
                <a:latin typeface="Times New Roman" pitchFamily="18" charset="0"/>
                <a:cs typeface="Arial" charset="0"/>
              </a:defRPr>
            </a:lvl9pPr>
          </a:lstStyle>
          <a:p>
            <a:pPr marL="2171700" lvl="3" indent="-571500">
              <a:buFont typeface="Arial" panose="020B0604020202020204" pitchFamily="34" charset="0"/>
              <a:buChar char="•"/>
              <a:defRPr/>
            </a:pP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Laptop </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(MacBook </a:t>
            </a: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Air </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OS X </a:t>
            </a: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Mavericks</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a:t>
            </a:r>
          </a:p>
          <a:p>
            <a:pPr marL="2171700" lvl="3" indent="-571500">
              <a:buFont typeface="Arial" panose="020B0604020202020204" pitchFamily="34" charset="0"/>
              <a:buChar char="•"/>
              <a:defRPr/>
            </a:pP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Damn Vulnerable Web Application (DVWA) </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V1.0.8</a:t>
            </a:r>
            <a:endPar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2171700" lvl="3" indent="-571500">
              <a:buFont typeface="Arial" panose="020B0604020202020204" pitchFamily="34" charset="0"/>
              <a:buChar char="•"/>
              <a:defRPr/>
            </a:pP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Kali Linux (1.0.9)</a:t>
            </a:r>
          </a:p>
          <a:p>
            <a:pPr marL="2171700" lvl="3" indent="-571500">
              <a:buFont typeface="Arial" panose="020B0604020202020204" pitchFamily="34" charset="0"/>
              <a:buChar char="•"/>
              <a:defRPr/>
            </a:pP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VMware </a:t>
            </a: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Fusion</a:t>
            </a:r>
          </a:p>
          <a:p>
            <a:pPr marL="2171700" lvl="3" indent="-571500">
              <a:buFont typeface="Arial" panose="020B0604020202020204" pitchFamily="34" charset="0"/>
              <a:buChar char="•"/>
              <a:defRPr/>
            </a:pPr>
            <a:r>
              <a:rPr lang="en-US" altLang="en-US" sz="3200" kern="0" dirty="0" err="1" smtClean="0">
                <a:solidFill>
                  <a:srgbClr val="000000"/>
                </a:solidFill>
                <a:latin typeface="Tahoma" panose="020B0604030504040204" pitchFamily="34" charset="0"/>
                <a:ea typeface="Tahoma" panose="020B0604030504040204" pitchFamily="34" charset="0"/>
                <a:cs typeface="Tahoma" panose="020B0604030504040204" pitchFamily="34" charset="0"/>
              </a:rPr>
              <a:t>sqlmap</a:t>
            </a:r>
            <a:endPar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endParaRPr>
          </a:p>
        </p:txBody>
      </p:sp>
      <p:sp>
        <p:nvSpPr>
          <p:cNvPr id="8" name="Rounded Rectangle 7"/>
          <p:cNvSpPr/>
          <p:nvPr/>
        </p:nvSpPr>
        <p:spPr bwMode="auto">
          <a:xfrm>
            <a:off x="1371600" y="19278600"/>
            <a:ext cx="12801600" cy="13330722"/>
          </a:xfrm>
          <a:prstGeom prst="roundRect">
            <a:avLst/>
          </a:prstGeom>
          <a:solidFill>
            <a:srgbClr val="FFFFFF"/>
          </a:solidFill>
          <a:ln w="9525"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a:lstStyle>
            <a:lvl1pPr defTabSz="3814763">
              <a:defRPr sz="10000">
                <a:solidFill>
                  <a:schemeClr val="tx1"/>
                </a:solidFill>
                <a:latin typeface="Times New Roman" pitchFamily="18" charset="0"/>
                <a:cs typeface="Arial" charset="0"/>
              </a:defRPr>
            </a:lvl1pPr>
            <a:lvl2pPr marL="742950" indent="-285750" defTabSz="3814763">
              <a:defRPr sz="10000">
                <a:solidFill>
                  <a:schemeClr val="tx1"/>
                </a:solidFill>
                <a:latin typeface="Times New Roman" pitchFamily="18" charset="0"/>
                <a:cs typeface="Arial" charset="0"/>
              </a:defRPr>
            </a:lvl2pPr>
            <a:lvl3pPr marL="1143000" indent="-228600" defTabSz="3814763">
              <a:defRPr sz="10000">
                <a:solidFill>
                  <a:schemeClr val="tx1"/>
                </a:solidFill>
                <a:latin typeface="Times New Roman" pitchFamily="18" charset="0"/>
                <a:cs typeface="Arial" charset="0"/>
              </a:defRPr>
            </a:lvl3pPr>
            <a:lvl4pPr marL="1600200" indent="-228600" defTabSz="3814763">
              <a:defRPr sz="10000">
                <a:solidFill>
                  <a:schemeClr val="tx1"/>
                </a:solidFill>
                <a:latin typeface="Times New Roman" pitchFamily="18" charset="0"/>
                <a:cs typeface="Arial" charset="0"/>
              </a:defRPr>
            </a:lvl4pPr>
            <a:lvl5pPr marL="2057400" indent="-228600" defTabSz="3814763">
              <a:defRPr sz="10000">
                <a:solidFill>
                  <a:schemeClr val="tx1"/>
                </a:solidFill>
                <a:latin typeface="Times New Roman" pitchFamily="18" charset="0"/>
                <a:cs typeface="Arial" charset="0"/>
              </a:defRPr>
            </a:lvl5pPr>
            <a:lvl6pPr marL="2514600" indent="-228600" defTabSz="3814763" fontAlgn="base">
              <a:spcBef>
                <a:spcPct val="0"/>
              </a:spcBef>
              <a:spcAft>
                <a:spcPct val="0"/>
              </a:spcAft>
              <a:defRPr sz="10000">
                <a:solidFill>
                  <a:schemeClr val="tx1"/>
                </a:solidFill>
                <a:latin typeface="Times New Roman" pitchFamily="18" charset="0"/>
                <a:cs typeface="Arial" charset="0"/>
              </a:defRPr>
            </a:lvl6pPr>
            <a:lvl7pPr marL="2971800" indent="-228600" defTabSz="3814763" fontAlgn="base">
              <a:spcBef>
                <a:spcPct val="0"/>
              </a:spcBef>
              <a:spcAft>
                <a:spcPct val="0"/>
              </a:spcAft>
              <a:defRPr sz="10000">
                <a:solidFill>
                  <a:schemeClr val="tx1"/>
                </a:solidFill>
                <a:latin typeface="Times New Roman" pitchFamily="18" charset="0"/>
                <a:cs typeface="Arial" charset="0"/>
              </a:defRPr>
            </a:lvl7pPr>
            <a:lvl8pPr marL="3429000" indent="-228600" defTabSz="3814763" fontAlgn="base">
              <a:spcBef>
                <a:spcPct val="0"/>
              </a:spcBef>
              <a:spcAft>
                <a:spcPct val="0"/>
              </a:spcAft>
              <a:defRPr sz="10000">
                <a:solidFill>
                  <a:schemeClr val="tx1"/>
                </a:solidFill>
                <a:latin typeface="Times New Roman" pitchFamily="18" charset="0"/>
                <a:cs typeface="Arial" charset="0"/>
              </a:defRPr>
            </a:lvl8pPr>
            <a:lvl9pPr marL="3886200" indent="-228600" defTabSz="3814763" fontAlgn="base">
              <a:spcBef>
                <a:spcPct val="0"/>
              </a:spcBef>
              <a:spcAft>
                <a:spcPct val="0"/>
              </a:spcAft>
              <a:defRPr sz="10000">
                <a:solidFill>
                  <a:schemeClr val="tx1"/>
                </a:solidFill>
                <a:latin typeface="Times New Roman" pitchFamily="18" charset="0"/>
                <a:cs typeface="Arial" charset="0"/>
              </a:defRPr>
            </a:lvl9pPr>
          </a:lstStyle>
          <a:p>
            <a:pPr fontAlgn="base">
              <a:spcBef>
                <a:spcPct val="0"/>
              </a:spcBef>
              <a:spcAft>
                <a:spcPct val="0"/>
              </a:spcAft>
              <a:defRPr/>
            </a:pP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SQL Injection is one of the most common vulnerabilities to date. The flaw comes from web application development and is not a problem from the database or web server</a:t>
            </a: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 SQL injection errors occur when d</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ata </a:t>
            </a: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enters a program from an untrusted </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source </a:t>
            </a: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or </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the data is </a:t>
            </a: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used to dynamically construct a SQL </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query. Here is sample of vulnerable source code:</a:t>
            </a:r>
          </a:p>
          <a:p>
            <a:pPr lvl="0" fontAlgn="base">
              <a:spcBef>
                <a:spcPct val="0"/>
              </a:spcBef>
              <a:spcAft>
                <a:spcPct val="0"/>
              </a:spcAft>
              <a:defRPr/>
            </a:pPr>
            <a:endPar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lvl="0" fontAlgn="base">
              <a:spcBef>
                <a:spcPct val="0"/>
              </a:spcBef>
              <a:spcAft>
                <a:spcPct val="0"/>
              </a:spcAft>
              <a:defRPr/>
            </a:pPr>
            <a:endPar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lvl="0" fontAlgn="base">
              <a:spcBef>
                <a:spcPct val="0"/>
              </a:spcBef>
              <a:spcAft>
                <a:spcPct val="0"/>
              </a:spcAft>
              <a:defRPr/>
            </a:pPr>
            <a:endPar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lvl="0" fontAlgn="base">
              <a:spcBef>
                <a:spcPct val="0"/>
              </a:spcBef>
              <a:spcAft>
                <a:spcPct val="0"/>
              </a:spcAft>
              <a:defRPr/>
            </a:pPr>
            <a:endPar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fontAlgn="base">
              <a:spcBef>
                <a:spcPct val="0"/>
              </a:spcBef>
              <a:spcAft>
                <a:spcPct val="0"/>
              </a:spcAft>
              <a:defRPr/>
            </a:pPr>
            <a:endPar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fontAlgn="base">
              <a:spcBef>
                <a:spcPct val="0"/>
              </a:spcBef>
              <a:spcAft>
                <a:spcPct val="0"/>
              </a:spcAft>
              <a:defRPr/>
            </a:pPr>
            <a:r>
              <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a:t>
            </a:r>
          </a:p>
          <a:p>
            <a:pPr fontAlgn="base">
              <a:spcBef>
                <a:spcPct val="0"/>
              </a:spcBef>
              <a:spcAft>
                <a:spcPct val="0"/>
              </a:spcAft>
              <a:defRPr/>
            </a:pP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Using an input of “administrator’ –”, the attacker can login as admin without having to provide a password. The query string will look like this:</a:t>
            </a:r>
          </a:p>
          <a:p>
            <a:pPr fontAlgn="base">
              <a:spcBef>
                <a:spcPct val="0"/>
              </a:spcBef>
              <a:spcAft>
                <a:spcPct val="0"/>
              </a:spcAft>
              <a:defRPr/>
            </a:pPr>
            <a:endPar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endParaRPr>
          </a:p>
          <a:p>
            <a:pPr lvl="0" fontAlgn="base">
              <a:spcBef>
                <a:spcPct val="0"/>
              </a:spcBef>
              <a:spcAft>
                <a:spcPct val="0"/>
              </a:spcAft>
              <a:defRPr/>
            </a:pPr>
            <a:endPar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lvl="0" fontAlgn="base">
              <a:spcBef>
                <a:spcPct val="0"/>
              </a:spcBef>
              <a:spcAft>
                <a:spcPct val="0"/>
              </a:spcAft>
              <a:defRPr/>
            </a:pP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According to OWASP SQL Injection Prevention </a:t>
            </a:r>
            <a:r>
              <a:rPr lang="en-US" altLang="en-US" sz="3200" kern="0" dirty="0" err="1" smtClean="0">
                <a:solidFill>
                  <a:srgbClr val="000000"/>
                </a:solidFill>
                <a:latin typeface="Tahoma" panose="020B0604030504040204" pitchFamily="34" charset="0"/>
                <a:ea typeface="Tahoma" panose="020B0604030504040204" pitchFamily="34" charset="0"/>
                <a:cs typeface="Tahoma" panose="020B0604030504040204" pitchFamily="34" charset="0"/>
              </a:rPr>
              <a:t>Cheatsheet</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there are a couple ways to prevent this vulnerability: </a:t>
            </a:r>
            <a:endParaRPr lang="en-US" altLang="en-US" sz="3200" kern="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marL="571500" marR="0" lvl="0" indent="-571500" defTabSz="3814763"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32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Use of prepared statements (parameterized queries)</a:t>
            </a:r>
          </a:p>
          <a:p>
            <a:pPr marL="571500" marR="0" lvl="0" indent="-571500" defTabSz="3814763" eaLnBrk="1" fontAlgn="base" latinLnBrk="0" hangingPunct="1">
              <a:lnSpc>
                <a:spcPct val="100000"/>
              </a:lnSpc>
              <a:spcBef>
                <a:spcPct val="0"/>
              </a:spcBef>
              <a:spcAft>
                <a:spcPct val="0"/>
              </a:spcAft>
              <a:buClrTx/>
              <a:buSzTx/>
              <a:buFont typeface="Arial" panose="020B0604020202020204" pitchFamily="34" charset="0"/>
              <a:buChar char="•"/>
              <a:tabLst/>
              <a:defRPr/>
            </a:pPr>
            <a:r>
              <a:rPr lang="en-US" altLang="en-US" sz="3200" kern="0" noProof="0" dirty="0" smtClean="0">
                <a:solidFill>
                  <a:srgbClr val="000000"/>
                </a:solidFill>
                <a:latin typeface="Tahoma" panose="020B0604030504040204" pitchFamily="34" charset="0"/>
                <a:ea typeface="Tahoma" panose="020B0604030504040204" pitchFamily="34" charset="0"/>
                <a:cs typeface="Tahoma" panose="020B0604030504040204" pitchFamily="34" charset="0"/>
              </a:rPr>
              <a:t>Use of stored procedures</a:t>
            </a:r>
          </a:p>
          <a:p>
            <a:pPr marL="571500" marR="0" lvl="0" indent="-571500" defTabSz="3814763"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3200" b="0" i="0" u="none" strike="noStrike" kern="0" cap="none" spc="0" normalizeH="0" baseline="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Escaping</a:t>
            </a:r>
            <a:r>
              <a:rPr kumimoji="0" lang="en-US" altLang="en-US" sz="3200" b="0" i="0" u="none" strike="noStrike" kern="0" cap="none" spc="0" normalizeH="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all user supplied input</a:t>
            </a:r>
          </a:p>
          <a:p>
            <a:pPr marL="571500" marR="0" lvl="0" indent="-571500" defTabSz="3814763" eaLnBrk="1" fontAlgn="base" latinLnBrk="0" hangingPunct="1">
              <a:lnSpc>
                <a:spcPct val="100000"/>
              </a:lnSpc>
              <a:spcBef>
                <a:spcPct val="0"/>
              </a:spcBef>
              <a:spcAft>
                <a:spcPct val="0"/>
              </a:spcAft>
              <a:buClrTx/>
              <a:buSzTx/>
              <a:buFont typeface="Arial" panose="020B0604020202020204" pitchFamily="34" charset="0"/>
              <a:buChar char="•"/>
              <a:tabLst/>
              <a:defRPr/>
            </a:pP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Enforce using least </a:t>
            </a:r>
            <a:r>
              <a:rPr lang="en-US" altLang="en-US" sz="3200" kern="0" dirty="0" err="1" smtClean="0">
                <a:solidFill>
                  <a:srgbClr val="000000"/>
                </a:solidFill>
                <a:latin typeface="Tahoma" panose="020B0604030504040204" pitchFamily="34" charset="0"/>
                <a:ea typeface="Tahoma" panose="020B0604030504040204" pitchFamily="34" charset="0"/>
                <a:cs typeface="Tahoma" panose="020B0604030504040204" pitchFamily="34" charset="0"/>
              </a:rPr>
              <a:t>privelage</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accounts</a:t>
            </a:r>
          </a:p>
          <a:p>
            <a:pPr marL="571500" marR="0" lvl="0" indent="-571500" defTabSz="3814763"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32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White</a:t>
            </a:r>
            <a:r>
              <a:rPr kumimoji="0" lang="en-US" altLang="en-US" sz="3200" b="0" i="0" u="none" strike="noStrike" kern="0" cap="none" spc="0" normalizeH="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list input validation</a:t>
            </a:r>
            <a:endParaRPr kumimoji="0" lang="en-US" altLang="en-US" sz="32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9" name="Rounded Rectangle 8"/>
          <p:cNvSpPr/>
          <p:nvPr/>
        </p:nvSpPr>
        <p:spPr bwMode="auto">
          <a:xfrm>
            <a:off x="29718000" y="18211800"/>
            <a:ext cx="12801600" cy="10287000"/>
          </a:xfrm>
          <a:prstGeom prst="roundRect">
            <a:avLst/>
          </a:prstGeom>
          <a:solidFill>
            <a:srgbClr val="FFFFFF"/>
          </a:solidFill>
          <a:ln w="9525"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a:lstStyle>
            <a:lvl1pPr defTabSz="3814763">
              <a:defRPr sz="10000">
                <a:solidFill>
                  <a:schemeClr val="tx1"/>
                </a:solidFill>
                <a:latin typeface="Times New Roman" pitchFamily="18" charset="0"/>
                <a:cs typeface="Arial" charset="0"/>
              </a:defRPr>
            </a:lvl1pPr>
            <a:lvl2pPr marL="742950" indent="-285750" defTabSz="3814763">
              <a:defRPr sz="10000">
                <a:solidFill>
                  <a:schemeClr val="tx1"/>
                </a:solidFill>
                <a:latin typeface="Times New Roman" pitchFamily="18" charset="0"/>
                <a:cs typeface="Arial" charset="0"/>
              </a:defRPr>
            </a:lvl2pPr>
            <a:lvl3pPr marL="1143000" indent="-228600" defTabSz="3814763">
              <a:defRPr sz="10000">
                <a:solidFill>
                  <a:schemeClr val="tx1"/>
                </a:solidFill>
                <a:latin typeface="Times New Roman" pitchFamily="18" charset="0"/>
                <a:cs typeface="Arial" charset="0"/>
              </a:defRPr>
            </a:lvl3pPr>
            <a:lvl4pPr marL="1600200" indent="-228600" defTabSz="3814763">
              <a:defRPr sz="10000">
                <a:solidFill>
                  <a:schemeClr val="tx1"/>
                </a:solidFill>
                <a:latin typeface="Times New Roman" pitchFamily="18" charset="0"/>
                <a:cs typeface="Arial" charset="0"/>
              </a:defRPr>
            </a:lvl4pPr>
            <a:lvl5pPr marL="2057400" indent="-228600" defTabSz="3814763">
              <a:defRPr sz="10000">
                <a:solidFill>
                  <a:schemeClr val="tx1"/>
                </a:solidFill>
                <a:latin typeface="Times New Roman" pitchFamily="18" charset="0"/>
                <a:cs typeface="Arial" charset="0"/>
              </a:defRPr>
            </a:lvl5pPr>
            <a:lvl6pPr marL="2514600" indent="-228600" defTabSz="3814763" fontAlgn="base">
              <a:spcBef>
                <a:spcPct val="0"/>
              </a:spcBef>
              <a:spcAft>
                <a:spcPct val="0"/>
              </a:spcAft>
              <a:defRPr sz="10000">
                <a:solidFill>
                  <a:schemeClr val="tx1"/>
                </a:solidFill>
                <a:latin typeface="Times New Roman" pitchFamily="18" charset="0"/>
                <a:cs typeface="Arial" charset="0"/>
              </a:defRPr>
            </a:lvl6pPr>
            <a:lvl7pPr marL="2971800" indent="-228600" defTabSz="3814763" fontAlgn="base">
              <a:spcBef>
                <a:spcPct val="0"/>
              </a:spcBef>
              <a:spcAft>
                <a:spcPct val="0"/>
              </a:spcAft>
              <a:defRPr sz="10000">
                <a:solidFill>
                  <a:schemeClr val="tx1"/>
                </a:solidFill>
                <a:latin typeface="Times New Roman" pitchFamily="18" charset="0"/>
                <a:cs typeface="Arial" charset="0"/>
              </a:defRPr>
            </a:lvl7pPr>
            <a:lvl8pPr marL="3429000" indent="-228600" defTabSz="3814763" fontAlgn="base">
              <a:spcBef>
                <a:spcPct val="0"/>
              </a:spcBef>
              <a:spcAft>
                <a:spcPct val="0"/>
              </a:spcAft>
              <a:defRPr sz="10000">
                <a:solidFill>
                  <a:schemeClr val="tx1"/>
                </a:solidFill>
                <a:latin typeface="Times New Roman" pitchFamily="18" charset="0"/>
                <a:cs typeface="Arial" charset="0"/>
              </a:defRPr>
            </a:lvl8pPr>
            <a:lvl9pPr marL="3886200" indent="-228600" defTabSz="3814763" fontAlgn="base">
              <a:spcBef>
                <a:spcPct val="0"/>
              </a:spcBef>
              <a:spcAft>
                <a:spcPct val="0"/>
              </a:spcAft>
              <a:defRPr sz="10000">
                <a:solidFill>
                  <a:schemeClr val="tx1"/>
                </a:solidFill>
                <a:latin typeface="Times New Roman" pitchFamily="18" charset="0"/>
                <a:cs typeface="Arial" charset="0"/>
              </a:defRPr>
            </a:lvl9pPr>
          </a:lstStyle>
          <a:p>
            <a:pPr marL="457200" marR="0" indent="-457200">
              <a:spcAft>
                <a:spcPts val="0"/>
              </a:spcAft>
            </a:pPr>
            <a:r>
              <a:rPr lang="en-US" sz="3200" dirty="0" smtClean="0">
                <a:latin typeface="Tahoma" panose="020B0604030504040204" pitchFamily="34" charset="0"/>
                <a:ea typeface="Tahoma" panose="020B0604030504040204" pitchFamily="34" charset="0"/>
                <a:cs typeface="Tahoma" panose="020B0604030504040204" pitchFamily="34" charset="0"/>
              </a:rPr>
              <a:t>OWASP, “SQL Injection,” Aug. </a:t>
            </a:r>
            <a:r>
              <a:rPr lang="en-US" sz="3200" dirty="0">
                <a:latin typeface="Tahoma" panose="020B0604030504040204" pitchFamily="34" charset="0"/>
                <a:ea typeface="Tahoma" panose="020B0604030504040204" pitchFamily="34" charset="0"/>
                <a:cs typeface="Tahoma" panose="020B0604030504040204" pitchFamily="34" charset="0"/>
              </a:rPr>
              <a:t>2014; </a:t>
            </a:r>
            <a:r>
              <a:rPr lang="en-US" sz="3200" dirty="0" err="1" smtClean="0">
                <a:latin typeface="Tahoma" panose="020B0604030504040204" pitchFamily="34" charset="0"/>
                <a:ea typeface="Tahoma" panose="020B0604030504040204" pitchFamily="34" charset="0"/>
                <a:cs typeface="Tahoma" panose="020B0604030504040204" pitchFamily="34" charset="0"/>
              </a:rPr>
              <a:t>www.owasp.org</a:t>
            </a:r>
            <a:r>
              <a:rPr lang="en-US" sz="3200" dirty="0">
                <a:latin typeface="Tahoma" panose="020B0604030504040204" pitchFamily="34" charset="0"/>
                <a:ea typeface="Tahoma" panose="020B0604030504040204" pitchFamily="34" charset="0"/>
                <a:cs typeface="Tahoma" panose="020B0604030504040204" pitchFamily="34" charset="0"/>
              </a:rPr>
              <a:t>/</a:t>
            </a:r>
            <a:r>
              <a:rPr lang="en-US" sz="3200" dirty="0" err="1">
                <a:latin typeface="Tahoma" panose="020B0604030504040204" pitchFamily="34" charset="0"/>
                <a:ea typeface="Tahoma" panose="020B0604030504040204" pitchFamily="34" charset="0"/>
                <a:cs typeface="Tahoma" panose="020B0604030504040204" pitchFamily="34" charset="0"/>
              </a:rPr>
              <a:t>index.php</a:t>
            </a:r>
            <a:r>
              <a:rPr lang="en-US" sz="3200" dirty="0">
                <a:latin typeface="Tahoma" panose="020B0604030504040204" pitchFamily="34" charset="0"/>
                <a:ea typeface="Tahoma" panose="020B0604030504040204" pitchFamily="34" charset="0"/>
                <a:cs typeface="Tahoma" panose="020B0604030504040204" pitchFamily="34" charset="0"/>
              </a:rPr>
              <a:t>/</a:t>
            </a:r>
            <a:r>
              <a:rPr lang="en-US" sz="3200" dirty="0" err="1" smtClean="0">
                <a:latin typeface="Tahoma" panose="020B0604030504040204" pitchFamily="34" charset="0"/>
                <a:ea typeface="Tahoma" panose="020B0604030504040204" pitchFamily="34" charset="0"/>
                <a:cs typeface="Tahoma" panose="020B0604030504040204" pitchFamily="34" charset="0"/>
              </a:rPr>
              <a:t>SQL_Injection</a:t>
            </a:r>
            <a:endParaRPr lang="en-US" sz="3200" dirty="0" smtClean="0">
              <a:latin typeface="Tahoma" panose="020B0604030504040204" pitchFamily="34" charset="0"/>
              <a:ea typeface="Tahoma" panose="020B0604030504040204" pitchFamily="34" charset="0"/>
              <a:cs typeface="Tahoma" panose="020B0604030504040204" pitchFamily="34" charset="0"/>
            </a:endParaRPr>
          </a:p>
          <a:p>
            <a:pPr marL="457200" indent="-457200"/>
            <a:r>
              <a:rPr lang="en-US" sz="3200" dirty="0">
                <a:latin typeface="Tahoma" panose="020B0604030504040204" pitchFamily="34" charset="0"/>
                <a:ea typeface="Tahoma" panose="020B0604030504040204" pitchFamily="34" charset="0"/>
                <a:cs typeface="Tahoma" panose="020B0604030504040204" pitchFamily="34" charset="0"/>
              </a:rPr>
              <a:t>OWASP, “SQL </a:t>
            </a:r>
            <a:r>
              <a:rPr lang="en-US" sz="3200" dirty="0" smtClean="0">
                <a:latin typeface="Tahoma" panose="020B0604030504040204" pitchFamily="34" charset="0"/>
                <a:ea typeface="Tahoma" panose="020B0604030504040204" pitchFamily="34" charset="0"/>
                <a:cs typeface="Tahoma" panose="020B0604030504040204" pitchFamily="34" charset="0"/>
              </a:rPr>
              <a:t>Injection Prevention Cheat Sheet,</a:t>
            </a:r>
            <a:r>
              <a:rPr lang="en-US" sz="3200" dirty="0">
                <a:latin typeface="Tahoma" panose="020B0604030504040204" pitchFamily="34" charset="0"/>
                <a:ea typeface="Tahoma" panose="020B0604030504040204" pitchFamily="34" charset="0"/>
                <a:cs typeface="Tahoma" panose="020B0604030504040204" pitchFamily="34" charset="0"/>
              </a:rPr>
              <a:t>” </a:t>
            </a:r>
            <a:r>
              <a:rPr lang="en-US" sz="3200" dirty="0" smtClean="0">
                <a:latin typeface="Tahoma" panose="020B0604030504040204" pitchFamily="34" charset="0"/>
                <a:ea typeface="Tahoma" panose="020B0604030504040204" pitchFamily="34" charset="0"/>
                <a:cs typeface="Tahoma" panose="020B0604030504040204" pitchFamily="34" charset="0"/>
              </a:rPr>
              <a:t>Jun.. </a:t>
            </a:r>
            <a:r>
              <a:rPr lang="en-US" sz="3200" dirty="0">
                <a:latin typeface="Tahoma" panose="020B0604030504040204" pitchFamily="34" charset="0"/>
                <a:ea typeface="Tahoma" panose="020B0604030504040204" pitchFamily="34" charset="0"/>
                <a:cs typeface="Tahoma" panose="020B0604030504040204" pitchFamily="34" charset="0"/>
              </a:rPr>
              <a:t>2014; </a:t>
            </a:r>
            <a:r>
              <a:rPr lang="en-US" sz="3200" dirty="0" err="1" smtClean="0">
                <a:latin typeface="Tahoma" panose="020B0604030504040204" pitchFamily="34" charset="0"/>
                <a:ea typeface="Tahoma" panose="020B0604030504040204" pitchFamily="34" charset="0"/>
                <a:cs typeface="Tahoma" panose="020B0604030504040204" pitchFamily="34" charset="0"/>
              </a:rPr>
              <a:t>www.owasp.org</a:t>
            </a:r>
            <a:r>
              <a:rPr lang="en-US" sz="3200" dirty="0">
                <a:latin typeface="Tahoma" panose="020B0604030504040204" pitchFamily="34" charset="0"/>
                <a:ea typeface="Tahoma" panose="020B0604030504040204" pitchFamily="34" charset="0"/>
                <a:cs typeface="Tahoma" panose="020B0604030504040204" pitchFamily="34" charset="0"/>
              </a:rPr>
              <a:t>/</a:t>
            </a:r>
            <a:r>
              <a:rPr lang="en-US" sz="3200" dirty="0" err="1" smtClean="0">
                <a:latin typeface="Tahoma" panose="020B0604030504040204" pitchFamily="34" charset="0"/>
                <a:ea typeface="Tahoma" panose="020B0604030504040204" pitchFamily="34" charset="0"/>
                <a:cs typeface="Tahoma" panose="020B0604030504040204" pitchFamily="34" charset="0"/>
              </a:rPr>
              <a:t>index.php</a:t>
            </a:r>
            <a:r>
              <a:rPr lang="en-US" sz="3200" dirty="0" smtClean="0">
                <a:latin typeface="Tahoma" panose="020B0604030504040204" pitchFamily="34" charset="0"/>
                <a:ea typeface="Tahoma" panose="020B0604030504040204" pitchFamily="34" charset="0"/>
                <a:cs typeface="Tahoma" panose="020B0604030504040204" pitchFamily="34" charset="0"/>
              </a:rPr>
              <a:t>/</a:t>
            </a:r>
            <a:r>
              <a:rPr lang="en-US" sz="3200" dirty="0" err="1" smtClean="0">
                <a:latin typeface="Tahoma" panose="020B0604030504040204" pitchFamily="34" charset="0"/>
                <a:ea typeface="Tahoma" panose="020B0604030504040204" pitchFamily="34" charset="0"/>
                <a:cs typeface="Tahoma" panose="020B0604030504040204" pitchFamily="34" charset="0"/>
              </a:rPr>
              <a:t>SQL_Injection_Prevention_Cheat</a:t>
            </a:r>
            <a:r>
              <a:rPr lang="en-US" sz="3200" dirty="0" smtClean="0">
                <a:latin typeface="Tahoma" panose="020B0604030504040204" pitchFamily="34" charset="0"/>
                <a:ea typeface="Tahoma" panose="020B0604030504040204" pitchFamily="34" charset="0"/>
                <a:cs typeface="Tahoma" panose="020B0604030504040204" pitchFamily="34" charset="0"/>
              </a:rPr>
              <a:t>_</a:t>
            </a:r>
            <a:br>
              <a:rPr lang="en-US" sz="3200" dirty="0" smtClean="0">
                <a:latin typeface="Tahoma" panose="020B0604030504040204" pitchFamily="34" charset="0"/>
                <a:ea typeface="Tahoma" panose="020B0604030504040204" pitchFamily="34" charset="0"/>
                <a:cs typeface="Tahoma" panose="020B0604030504040204" pitchFamily="34" charset="0"/>
              </a:rPr>
            </a:br>
            <a:r>
              <a:rPr lang="en-US" sz="3200" dirty="0" smtClean="0">
                <a:latin typeface="Tahoma" panose="020B0604030504040204" pitchFamily="34" charset="0"/>
                <a:ea typeface="Tahoma" panose="020B0604030504040204" pitchFamily="34" charset="0"/>
                <a:cs typeface="Tahoma" panose="020B0604030504040204" pitchFamily="34" charset="0"/>
              </a:rPr>
              <a:t>Sheet</a:t>
            </a:r>
          </a:p>
          <a:p>
            <a:pPr marL="457200" indent="-457200"/>
            <a:r>
              <a:rPr lang="en-US" sz="3200" dirty="0" err="1" smtClean="0">
                <a:latin typeface="Tahoma" panose="020B0604030504040204" pitchFamily="34" charset="0"/>
                <a:ea typeface="Tahoma" panose="020B0604030504040204" pitchFamily="34" charset="0"/>
                <a:cs typeface="Tahoma" panose="020B0604030504040204" pitchFamily="34" charset="0"/>
              </a:rPr>
              <a:t>Salesforce</a:t>
            </a:r>
            <a:r>
              <a:rPr lang="en-US" sz="3200" dirty="0" smtClean="0">
                <a:latin typeface="Tahoma" panose="020B0604030504040204" pitchFamily="34" charset="0"/>
                <a:ea typeface="Tahoma" panose="020B0604030504040204" pitchFamily="34" charset="0"/>
                <a:cs typeface="Tahoma" panose="020B0604030504040204" pitchFamily="34" charset="0"/>
              </a:rPr>
              <a:t>, “Secure Coding </a:t>
            </a:r>
            <a:r>
              <a:rPr lang="en-US" sz="3200" dirty="0">
                <a:latin typeface="Tahoma" panose="020B0604030504040204" pitchFamily="34" charset="0"/>
                <a:ea typeface="Tahoma" panose="020B0604030504040204" pitchFamily="34" charset="0"/>
                <a:cs typeface="Tahoma" panose="020B0604030504040204" pitchFamily="34" charset="0"/>
              </a:rPr>
              <a:t>SQL Injection”; https://developer</a:t>
            </a:r>
            <a:r>
              <a:rPr lang="en-US" sz="3200" dirty="0" smtClean="0">
                <a:latin typeface="Tahoma" panose="020B0604030504040204" pitchFamily="34" charset="0"/>
                <a:ea typeface="Tahoma" panose="020B0604030504040204" pitchFamily="34" charset="0"/>
                <a:cs typeface="Tahoma" panose="020B0604030504040204" pitchFamily="34" charset="0"/>
              </a:rPr>
              <a:t>.</a:t>
            </a:r>
            <a:br>
              <a:rPr lang="en-US" sz="3200" dirty="0" smtClean="0">
                <a:latin typeface="Tahoma" panose="020B0604030504040204" pitchFamily="34" charset="0"/>
                <a:ea typeface="Tahoma" panose="020B0604030504040204" pitchFamily="34" charset="0"/>
                <a:cs typeface="Tahoma" panose="020B0604030504040204" pitchFamily="34" charset="0"/>
              </a:rPr>
            </a:br>
            <a:r>
              <a:rPr lang="en-US" sz="3200" dirty="0" err="1" smtClean="0">
                <a:latin typeface="Tahoma" panose="020B0604030504040204" pitchFamily="34" charset="0"/>
                <a:ea typeface="Tahoma" panose="020B0604030504040204" pitchFamily="34" charset="0"/>
                <a:cs typeface="Tahoma" panose="020B0604030504040204" pitchFamily="34" charset="0"/>
              </a:rPr>
              <a:t>salesforce.com</a:t>
            </a:r>
            <a:r>
              <a:rPr lang="en-US" sz="3200" dirty="0">
                <a:latin typeface="Tahoma" panose="020B0604030504040204" pitchFamily="34" charset="0"/>
                <a:ea typeface="Tahoma" panose="020B0604030504040204" pitchFamily="34" charset="0"/>
                <a:cs typeface="Tahoma" panose="020B0604030504040204" pitchFamily="34" charset="0"/>
              </a:rPr>
              <a:t>/page/</a:t>
            </a:r>
            <a:r>
              <a:rPr lang="en-US" sz="3200" dirty="0" err="1" smtClean="0">
                <a:latin typeface="Tahoma" panose="020B0604030504040204" pitchFamily="34" charset="0"/>
                <a:ea typeface="Tahoma" panose="020B0604030504040204" pitchFamily="34" charset="0"/>
                <a:cs typeface="Tahoma" panose="020B0604030504040204" pitchFamily="34" charset="0"/>
              </a:rPr>
              <a:t>Secure_Coding_SQL_Injection</a:t>
            </a:r>
            <a:endParaRPr lang="en-US" sz="3200" dirty="0" smtClean="0">
              <a:latin typeface="Tahoma" panose="020B0604030504040204" pitchFamily="34" charset="0"/>
              <a:ea typeface="Tahoma" panose="020B0604030504040204" pitchFamily="34" charset="0"/>
              <a:cs typeface="Tahoma" panose="020B0604030504040204" pitchFamily="34" charset="0"/>
            </a:endParaRPr>
          </a:p>
          <a:p>
            <a:pPr marL="457200" indent="-457200"/>
            <a:r>
              <a:rPr lang="en-US" sz="3200" dirty="0" smtClean="0">
                <a:latin typeface="Tahoma" panose="020B0604030504040204" pitchFamily="34" charset="0"/>
                <a:ea typeface="Tahoma" panose="020B0604030504040204" pitchFamily="34" charset="0"/>
                <a:cs typeface="Tahoma" panose="020B0604030504040204" pitchFamily="34" charset="0"/>
              </a:rPr>
              <a:t>V. </a:t>
            </a:r>
            <a:r>
              <a:rPr lang="en-US" sz="3200" dirty="0" err="1" smtClean="0">
                <a:latin typeface="Tahoma" panose="020B0604030504040204" pitchFamily="34" charset="0"/>
                <a:ea typeface="Tahoma" panose="020B0604030504040204" pitchFamily="34" charset="0"/>
                <a:cs typeface="Tahoma" panose="020B0604030504040204" pitchFamily="34" charset="0"/>
              </a:rPr>
              <a:t>Chapela</a:t>
            </a:r>
            <a:r>
              <a:rPr lang="en-US" sz="3200" dirty="0" smtClean="0">
                <a:latin typeface="Tahoma" panose="020B0604030504040204" pitchFamily="34" charset="0"/>
                <a:ea typeface="Tahoma" panose="020B0604030504040204" pitchFamily="34" charset="0"/>
                <a:cs typeface="Tahoma" panose="020B0604030504040204" pitchFamily="34" charset="0"/>
              </a:rPr>
              <a:t>, “Advanced SQL Injection,” Apr. </a:t>
            </a:r>
            <a:r>
              <a:rPr lang="en-US" sz="3200" dirty="0">
                <a:latin typeface="Tahoma" panose="020B0604030504040204" pitchFamily="34" charset="0"/>
                <a:ea typeface="Tahoma" panose="020B0604030504040204" pitchFamily="34" charset="0"/>
                <a:cs typeface="Tahoma" panose="020B0604030504040204" pitchFamily="34" charset="0"/>
              </a:rPr>
              <a:t>2005; </a:t>
            </a:r>
            <a:r>
              <a:rPr lang="en-US" sz="3200" dirty="0" err="1" smtClean="0">
                <a:latin typeface="Tahoma" panose="020B0604030504040204" pitchFamily="34" charset="0"/>
                <a:ea typeface="Tahoma" panose="020B0604030504040204" pitchFamily="34" charset="0"/>
                <a:cs typeface="Tahoma" panose="020B0604030504040204" pitchFamily="34" charset="0"/>
              </a:rPr>
              <a:t>www.one</a:t>
            </a:r>
            <a:r>
              <a:rPr lang="en-US" sz="3200" dirty="0" err="1">
                <a:latin typeface="Tahoma" panose="020B0604030504040204" pitchFamily="34" charset="0"/>
                <a:ea typeface="Tahoma" panose="020B0604030504040204" pitchFamily="34" charset="0"/>
                <a:cs typeface="Tahoma" panose="020B0604030504040204" pitchFamily="34" charset="0"/>
              </a:rPr>
              <a:t>-esecurity.com</a:t>
            </a:r>
            <a:r>
              <a:rPr lang="en-US" sz="3200" dirty="0">
                <a:latin typeface="Tahoma" panose="020B0604030504040204" pitchFamily="34" charset="0"/>
                <a:ea typeface="Tahoma" panose="020B0604030504040204" pitchFamily="34" charset="0"/>
                <a:cs typeface="Tahoma" panose="020B0604030504040204" pitchFamily="34" charset="0"/>
              </a:rPr>
              <a:t>/docs/</a:t>
            </a:r>
            <a:r>
              <a:rPr lang="en-US" sz="3200" dirty="0" err="1">
                <a:latin typeface="Tahoma" panose="020B0604030504040204" pitchFamily="34" charset="0"/>
                <a:ea typeface="Tahoma" panose="020B0604030504040204" pitchFamily="34" charset="0"/>
                <a:cs typeface="Tahoma" panose="020B0604030504040204" pitchFamily="34" charset="0"/>
              </a:rPr>
              <a:t>Victor_Chapela-</a:t>
            </a:r>
            <a:r>
              <a:rPr lang="en-US" sz="3200" dirty="0" err="1" smtClean="0">
                <a:latin typeface="Tahoma" panose="020B0604030504040204" pitchFamily="34" charset="0"/>
                <a:ea typeface="Tahoma" panose="020B0604030504040204" pitchFamily="34" charset="0"/>
                <a:cs typeface="Tahoma" panose="020B0604030504040204" pitchFamily="34" charset="0"/>
              </a:rPr>
              <a:t>Advanced_SQL</a:t>
            </a:r>
            <a:r>
              <a:rPr lang="en-US" sz="3200" dirty="0" smtClean="0">
                <a:latin typeface="Tahoma" panose="020B0604030504040204" pitchFamily="34" charset="0"/>
                <a:ea typeface="Tahoma" panose="020B0604030504040204" pitchFamily="34" charset="0"/>
                <a:cs typeface="Tahoma" panose="020B0604030504040204" pitchFamily="34" charset="0"/>
              </a:rPr>
              <a:t>_</a:t>
            </a:r>
            <a:br>
              <a:rPr lang="en-US" sz="3200" dirty="0" smtClean="0">
                <a:latin typeface="Tahoma" panose="020B0604030504040204" pitchFamily="34" charset="0"/>
                <a:ea typeface="Tahoma" panose="020B0604030504040204" pitchFamily="34" charset="0"/>
                <a:cs typeface="Tahoma" panose="020B0604030504040204" pitchFamily="34" charset="0"/>
              </a:rPr>
            </a:br>
            <a:r>
              <a:rPr lang="en-US" sz="3200" dirty="0" err="1" smtClean="0">
                <a:latin typeface="Tahoma" panose="020B0604030504040204" pitchFamily="34" charset="0"/>
                <a:ea typeface="Tahoma" panose="020B0604030504040204" pitchFamily="34" charset="0"/>
                <a:cs typeface="Tahoma" panose="020B0604030504040204" pitchFamily="34" charset="0"/>
              </a:rPr>
              <a:t>Injection.pdf</a:t>
            </a:r>
            <a:endParaRPr lang="en-US" sz="3200" dirty="0" smtClean="0">
              <a:latin typeface="Tahoma" panose="020B0604030504040204" pitchFamily="34" charset="0"/>
              <a:ea typeface="Tahoma" panose="020B0604030504040204" pitchFamily="34" charset="0"/>
              <a:cs typeface="Tahoma" panose="020B0604030504040204" pitchFamily="34" charset="0"/>
            </a:endParaRPr>
          </a:p>
          <a:p>
            <a:pPr marL="457200" indent="-457200"/>
            <a:r>
              <a:rPr lang="en-US" sz="3200" dirty="0" smtClean="0">
                <a:latin typeface="Tahoma" panose="020B0604030504040204" pitchFamily="34" charset="0"/>
                <a:ea typeface="Tahoma" panose="020B0604030504040204" pitchFamily="34" charset="0"/>
                <a:cs typeface="Tahoma" panose="020B0604030504040204" pitchFamily="34" charset="0"/>
              </a:rPr>
              <a:t>M. Kumar and L. </a:t>
            </a:r>
            <a:r>
              <a:rPr lang="en-US" sz="3200" dirty="0" err="1" smtClean="0">
                <a:latin typeface="Tahoma" panose="020B0604030504040204" pitchFamily="34" charset="0"/>
                <a:ea typeface="Tahoma" panose="020B0604030504040204" pitchFamily="34" charset="0"/>
                <a:cs typeface="Tahoma" panose="020B0604030504040204" pitchFamily="34" charset="0"/>
              </a:rPr>
              <a:t>Indu</a:t>
            </a:r>
            <a:r>
              <a:rPr lang="en-US" sz="3200" dirty="0" smtClean="0">
                <a:latin typeface="Tahoma" panose="020B0604030504040204" pitchFamily="34" charset="0"/>
                <a:ea typeface="Tahoma" panose="020B0604030504040204" pitchFamily="34" charset="0"/>
                <a:cs typeface="Tahoma" panose="020B0604030504040204" pitchFamily="34" charset="0"/>
              </a:rPr>
              <a:t>, “Detection and Prevention of SQL </a:t>
            </a:r>
            <a:r>
              <a:rPr lang="en-US" sz="3200" dirty="0">
                <a:latin typeface="Tahoma" panose="020B0604030504040204" pitchFamily="34" charset="0"/>
                <a:ea typeface="Tahoma" panose="020B0604030504040204" pitchFamily="34" charset="0"/>
                <a:cs typeface="Tahoma" panose="020B0604030504040204" pitchFamily="34" charset="0"/>
              </a:rPr>
              <a:t>Injection Attack,” 2014; </a:t>
            </a:r>
            <a:r>
              <a:rPr lang="en-US" sz="3200" dirty="0" err="1" smtClean="0">
                <a:latin typeface="Tahoma" panose="020B0604030504040204" pitchFamily="34" charset="0"/>
                <a:ea typeface="Tahoma" panose="020B0604030504040204" pitchFamily="34" charset="0"/>
                <a:cs typeface="Tahoma" panose="020B0604030504040204" pitchFamily="34" charset="0"/>
              </a:rPr>
              <a:t>www.ijcsit.com</a:t>
            </a:r>
            <a:r>
              <a:rPr lang="en-US" sz="3200" dirty="0">
                <a:latin typeface="Tahoma" panose="020B0604030504040204" pitchFamily="34" charset="0"/>
                <a:ea typeface="Tahoma" panose="020B0604030504040204" pitchFamily="34" charset="0"/>
                <a:cs typeface="Tahoma" panose="020B0604030504040204" pitchFamily="34" charset="0"/>
              </a:rPr>
              <a:t>/docs/Volume%205/vol5issue01/ijcsit2014050178.</a:t>
            </a:r>
            <a:r>
              <a:rPr lang="en-US" sz="3200" dirty="0" smtClean="0">
                <a:latin typeface="Tahoma" panose="020B0604030504040204" pitchFamily="34" charset="0"/>
                <a:ea typeface="Tahoma" panose="020B0604030504040204" pitchFamily="34" charset="0"/>
                <a:cs typeface="Tahoma" panose="020B0604030504040204" pitchFamily="34" charset="0"/>
              </a:rPr>
              <a:t>pdf</a:t>
            </a:r>
          </a:p>
          <a:p>
            <a:pPr marL="457200" indent="-457200"/>
            <a:r>
              <a:rPr lang="en-US" sz="3200" dirty="0" smtClean="0">
                <a:latin typeface="Tahoma" panose="020B0604030504040204" pitchFamily="34" charset="0"/>
                <a:ea typeface="Tahoma" panose="020B0604030504040204" pitchFamily="34" charset="0"/>
                <a:cs typeface="Tahoma" panose="020B0604030504040204" pitchFamily="34" charset="0"/>
              </a:rPr>
              <a:t>S. </a:t>
            </a:r>
            <a:r>
              <a:rPr lang="en-US" sz="3200" dirty="0" err="1" smtClean="0">
                <a:latin typeface="Tahoma" panose="020B0604030504040204" pitchFamily="34" charset="0"/>
                <a:ea typeface="Tahoma" panose="020B0604030504040204" pitchFamily="34" charset="0"/>
                <a:cs typeface="Tahoma" panose="020B0604030504040204" pitchFamily="34" charset="0"/>
              </a:rPr>
              <a:t>Kost</a:t>
            </a:r>
            <a:r>
              <a:rPr lang="en-US" sz="3200" dirty="0" smtClean="0">
                <a:latin typeface="Tahoma" panose="020B0604030504040204" pitchFamily="34" charset="0"/>
                <a:ea typeface="Tahoma" panose="020B0604030504040204" pitchFamily="34" charset="0"/>
                <a:cs typeface="Tahoma" panose="020B0604030504040204" pitchFamily="34" charset="0"/>
              </a:rPr>
              <a:t>, “An Introduction to SQL Injection Attacks for Oracle Developers,</a:t>
            </a:r>
            <a:r>
              <a:rPr lang="en-US" sz="3200" dirty="0">
                <a:latin typeface="Tahoma" panose="020B0604030504040204" pitchFamily="34" charset="0"/>
                <a:ea typeface="Tahoma" panose="020B0604030504040204" pitchFamily="34" charset="0"/>
                <a:cs typeface="Tahoma" panose="020B0604030504040204" pitchFamily="34" charset="0"/>
              </a:rPr>
              <a:t>” Jan 2004; http://</a:t>
            </a:r>
            <a:r>
              <a:rPr lang="en-US" sz="3200" dirty="0" err="1">
                <a:latin typeface="Tahoma" panose="020B0604030504040204" pitchFamily="34" charset="0"/>
                <a:ea typeface="Tahoma" panose="020B0604030504040204" pitchFamily="34" charset="0"/>
                <a:cs typeface="Tahoma" panose="020B0604030504040204" pitchFamily="34" charset="0"/>
              </a:rPr>
              <a:t>www.net-security.org</a:t>
            </a:r>
            <a:r>
              <a:rPr lang="en-US" sz="3200" dirty="0">
                <a:latin typeface="Tahoma" panose="020B0604030504040204" pitchFamily="34" charset="0"/>
                <a:ea typeface="Tahoma" panose="020B0604030504040204" pitchFamily="34" charset="0"/>
                <a:cs typeface="Tahoma" panose="020B0604030504040204" pitchFamily="34" charset="0"/>
              </a:rPr>
              <a:t>/dl/articles/</a:t>
            </a:r>
            <a:r>
              <a:rPr lang="en-US" sz="3200" dirty="0" err="1" smtClean="0">
                <a:latin typeface="Tahoma" panose="020B0604030504040204" pitchFamily="34" charset="0"/>
                <a:ea typeface="Tahoma" panose="020B0604030504040204" pitchFamily="34" charset="0"/>
                <a:cs typeface="Tahoma" panose="020B0604030504040204" pitchFamily="34" charset="0"/>
              </a:rPr>
              <a:t>IntegrigyIntrotoSQLInjectionAttacks.pdf</a:t>
            </a:r>
            <a:endParaRPr lang="en-US" sz="3200" dirty="0" smtClean="0">
              <a:latin typeface="Tahoma" panose="020B0604030504040204" pitchFamily="34" charset="0"/>
              <a:ea typeface="Tahoma" panose="020B0604030504040204" pitchFamily="34" charset="0"/>
              <a:cs typeface="Tahoma" panose="020B0604030504040204" pitchFamily="34" charset="0"/>
            </a:endParaRPr>
          </a:p>
          <a:p>
            <a:pPr marL="457200" indent="-457200"/>
            <a:r>
              <a:rPr lang="en-US" sz="3200" dirty="0" err="1" smtClean="0">
                <a:latin typeface="Tahoma" panose="020B0604030504040204" pitchFamily="34" charset="0"/>
                <a:ea typeface="Tahoma" panose="020B0604030504040204" pitchFamily="34" charset="0"/>
                <a:cs typeface="Tahoma" panose="020B0604030504040204" pitchFamily="34" charset="0"/>
              </a:rPr>
              <a:t>Acunetix</a:t>
            </a:r>
            <a:r>
              <a:rPr lang="en-US" sz="3200" dirty="0" smtClean="0">
                <a:latin typeface="Tahoma" panose="020B0604030504040204" pitchFamily="34" charset="0"/>
                <a:ea typeface="Tahoma" panose="020B0604030504040204" pitchFamily="34" charset="0"/>
                <a:cs typeface="Tahoma" panose="020B0604030504040204" pitchFamily="34" charset="0"/>
              </a:rPr>
              <a:t>, “SQL Injection: What is it?”;</a:t>
            </a:r>
            <a:r>
              <a:rPr lang="en-US" sz="3200" dirty="0" err="1" smtClean="0">
                <a:latin typeface="Tahoma" panose="020B0604030504040204" pitchFamily="34" charset="0"/>
                <a:ea typeface="Tahoma" panose="020B0604030504040204" pitchFamily="34" charset="0"/>
                <a:cs typeface="Tahoma" panose="020B0604030504040204" pitchFamily="34" charset="0"/>
              </a:rPr>
              <a:t>www.acunetix.com</a:t>
            </a:r>
            <a:r>
              <a:rPr lang="en-US" sz="3200" dirty="0">
                <a:latin typeface="Tahoma" panose="020B0604030504040204" pitchFamily="34" charset="0"/>
                <a:ea typeface="Tahoma" panose="020B0604030504040204" pitchFamily="34" charset="0"/>
                <a:cs typeface="Tahoma" panose="020B0604030504040204" pitchFamily="34" charset="0"/>
              </a:rPr>
              <a:t>/</a:t>
            </a:r>
            <a:r>
              <a:rPr lang="en-US" sz="3200" dirty="0" err="1">
                <a:latin typeface="Tahoma" panose="020B0604030504040204" pitchFamily="34" charset="0"/>
                <a:ea typeface="Tahoma" panose="020B0604030504040204" pitchFamily="34" charset="0"/>
                <a:cs typeface="Tahoma" panose="020B0604030504040204" pitchFamily="34" charset="0"/>
              </a:rPr>
              <a:t>websitesecurity</a:t>
            </a:r>
            <a:r>
              <a:rPr lang="en-US" sz="3200" dirty="0">
                <a:latin typeface="Tahoma" panose="020B0604030504040204" pitchFamily="34" charset="0"/>
                <a:ea typeface="Tahoma" panose="020B0604030504040204" pitchFamily="34" charset="0"/>
                <a:cs typeface="Tahoma" panose="020B0604030504040204" pitchFamily="34" charset="0"/>
              </a:rPr>
              <a:t>/</a:t>
            </a:r>
            <a:r>
              <a:rPr lang="en-US" sz="3200" dirty="0" err="1">
                <a:latin typeface="Tahoma" panose="020B0604030504040204" pitchFamily="34" charset="0"/>
                <a:ea typeface="Tahoma" panose="020B0604030504040204" pitchFamily="34" charset="0"/>
                <a:cs typeface="Tahoma" panose="020B0604030504040204" pitchFamily="34" charset="0"/>
              </a:rPr>
              <a:t>sql</a:t>
            </a:r>
            <a:r>
              <a:rPr lang="en-US" sz="3200" dirty="0">
                <a:latin typeface="Tahoma" panose="020B0604030504040204" pitchFamily="34" charset="0"/>
                <a:ea typeface="Tahoma" panose="020B0604030504040204" pitchFamily="34" charset="0"/>
                <a:cs typeface="Tahoma" panose="020B0604030504040204" pitchFamily="34" charset="0"/>
              </a:rPr>
              <a:t>-injection/</a:t>
            </a:r>
            <a:endParaRPr lang="en-US" sz="3200" dirty="0" smtClean="0">
              <a:latin typeface="Tahoma" panose="020B0604030504040204" pitchFamily="34" charset="0"/>
              <a:ea typeface="Tahoma" panose="020B0604030504040204" pitchFamily="34" charset="0"/>
              <a:cs typeface="Tahoma" panose="020B0604030504040204" pitchFamily="34" charset="0"/>
            </a:endParaRPr>
          </a:p>
        </p:txBody>
      </p:sp>
      <p:sp>
        <p:nvSpPr>
          <p:cNvPr id="10" name="Rounded Rectangle 9"/>
          <p:cNvSpPr/>
          <p:nvPr/>
        </p:nvSpPr>
        <p:spPr bwMode="auto">
          <a:xfrm>
            <a:off x="29718000" y="30403800"/>
            <a:ext cx="12801600" cy="2209800"/>
          </a:xfrm>
          <a:prstGeom prst="roundRect">
            <a:avLst/>
          </a:prstGeom>
          <a:solidFill>
            <a:srgbClr val="FFFFFF"/>
          </a:solidFill>
          <a:ln w="9525"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a:lstStyle>
            <a:lvl1pPr defTabSz="3814763">
              <a:defRPr sz="10000">
                <a:solidFill>
                  <a:schemeClr val="tx1"/>
                </a:solidFill>
                <a:latin typeface="Times New Roman" pitchFamily="18" charset="0"/>
                <a:cs typeface="Arial" charset="0"/>
              </a:defRPr>
            </a:lvl1pPr>
            <a:lvl2pPr marL="742950" indent="-285750" defTabSz="3814763">
              <a:defRPr sz="10000">
                <a:solidFill>
                  <a:schemeClr val="tx1"/>
                </a:solidFill>
                <a:latin typeface="Times New Roman" pitchFamily="18" charset="0"/>
                <a:cs typeface="Arial" charset="0"/>
              </a:defRPr>
            </a:lvl2pPr>
            <a:lvl3pPr marL="1143000" indent="-228600" defTabSz="3814763">
              <a:defRPr sz="10000">
                <a:solidFill>
                  <a:schemeClr val="tx1"/>
                </a:solidFill>
                <a:latin typeface="Times New Roman" pitchFamily="18" charset="0"/>
                <a:cs typeface="Arial" charset="0"/>
              </a:defRPr>
            </a:lvl3pPr>
            <a:lvl4pPr marL="1600200" indent="-228600" defTabSz="3814763">
              <a:defRPr sz="10000">
                <a:solidFill>
                  <a:schemeClr val="tx1"/>
                </a:solidFill>
                <a:latin typeface="Times New Roman" pitchFamily="18" charset="0"/>
                <a:cs typeface="Arial" charset="0"/>
              </a:defRPr>
            </a:lvl4pPr>
            <a:lvl5pPr marL="2057400" indent="-228600" defTabSz="3814763">
              <a:defRPr sz="10000">
                <a:solidFill>
                  <a:schemeClr val="tx1"/>
                </a:solidFill>
                <a:latin typeface="Times New Roman" pitchFamily="18" charset="0"/>
                <a:cs typeface="Arial" charset="0"/>
              </a:defRPr>
            </a:lvl5pPr>
            <a:lvl6pPr marL="2514600" indent="-228600" defTabSz="3814763" fontAlgn="base">
              <a:spcBef>
                <a:spcPct val="0"/>
              </a:spcBef>
              <a:spcAft>
                <a:spcPct val="0"/>
              </a:spcAft>
              <a:defRPr sz="10000">
                <a:solidFill>
                  <a:schemeClr val="tx1"/>
                </a:solidFill>
                <a:latin typeface="Times New Roman" pitchFamily="18" charset="0"/>
                <a:cs typeface="Arial" charset="0"/>
              </a:defRPr>
            </a:lvl6pPr>
            <a:lvl7pPr marL="2971800" indent="-228600" defTabSz="3814763" fontAlgn="base">
              <a:spcBef>
                <a:spcPct val="0"/>
              </a:spcBef>
              <a:spcAft>
                <a:spcPct val="0"/>
              </a:spcAft>
              <a:defRPr sz="10000">
                <a:solidFill>
                  <a:schemeClr val="tx1"/>
                </a:solidFill>
                <a:latin typeface="Times New Roman" pitchFamily="18" charset="0"/>
                <a:cs typeface="Arial" charset="0"/>
              </a:defRPr>
            </a:lvl7pPr>
            <a:lvl8pPr marL="3429000" indent="-228600" defTabSz="3814763" fontAlgn="base">
              <a:spcBef>
                <a:spcPct val="0"/>
              </a:spcBef>
              <a:spcAft>
                <a:spcPct val="0"/>
              </a:spcAft>
              <a:defRPr sz="10000">
                <a:solidFill>
                  <a:schemeClr val="tx1"/>
                </a:solidFill>
                <a:latin typeface="Times New Roman" pitchFamily="18" charset="0"/>
                <a:cs typeface="Arial" charset="0"/>
              </a:defRPr>
            </a:lvl8pPr>
            <a:lvl9pPr marL="3886200" indent="-228600" defTabSz="3814763" fontAlgn="base">
              <a:spcBef>
                <a:spcPct val="0"/>
              </a:spcBef>
              <a:spcAft>
                <a:spcPct val="0"/>
              </a:spcAft>
              <a:defRPr sz="10000">
                <a:solidFill>
                  <a:schemeClr val="tx1"/>
                </a:solidFill>
                <a:latin typeface="Times New Roman" pitchFamily="18" charset="0"/>
                <a:cs typeface="Arial" charset="0"/>
              </a:defRPr>
            </a:lvl9pPr>
          </a:lstStyle>
          <a:p>
            <a:pPr marL="0" marR="0" lvl="0" indent="0" defTabSz="3814763" eaLnBrk="1" fontAlgn="base" latinLnBrk="0" hangingPunct="1">
              <a:lnSpc>
                <a:spcPct val="100000"/>
              </a:lnSpc>
              <a:spcBef>
                <a:spcPct val="0"/>
              </a:spcBef>
              <a:spcAft>
                <a:spcPct val="0"/>
              </a:spcAft>
              <a:buClrTx/>
              <a:buSzTx/>
              <a:buFontTx/>
              <a:buNone/>
              <a:tabLst/>
              <a:defRPr/>
            </a:pPr>
            <a:r>
              <a:rPr kumimoji="0" lang="en-US" altLang="en-US" sz="32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I would like to acknowledge that a major resource used in this project was</a:t>
            </a:r>
            <a:r>
              <a:rPr kumimoji="0" lang="en-US" altLang="en-US" sz="3200" b="0" i="0" u="none" strike="noStrike" kern="0" cap="none" spc="0" normalizeH="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by OWASP and they deserve recognition for providing free and open source material for everyone in the community.</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 </a:t>
            </a:r>
            <a:endParaRPr kumimoji="0" lang="en-US" altLang="en-US" sz="32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 name="TextBox 11"/>
          <p:cNvSpPr txBox="1"/>
          <p:nvPr/>
        </p:nvSpPr>
        <p:spPr>
          <a:xfrm>
            <a:off x="5486400" y="5943600"/>
            <a:ext cx="4572000" cy="769441"/>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defRPr/>
            </a:pPr>
            <a:r>
              <a:rPr lang="en-US" sz="4400" dirty="0">
                <a:latin typeface="Tahoma" panose="020B0604030504040204" pitchFamily="34" charset="0"/>
                <a:ea typeface="Tahoma" panose="020B0604030504040204" pitchFamily="34" charset="0"/>
                <a:cs typeface="Tahoma" panose="020B0604030504040204" pitchFamily="34" charset="0"/>
              </a:rPr>
              <a:t>Abstract</a:t>
            </a:r>
          </a:p>
        </p:txBody>
      </p:sp>
      <p:sp>
        <p:nvSpPr>
          <p:cNvPr id="13" name="TextBox 12"/>
          <p:cNvSpPr txBox="1"/>
          <p:nvPr/>
        </p:nvSpPr>
        <p:spPr>
          <a:xfrm>
            <a:off x="5486400" y="14706600"/>
            <a:ext cx="4572000" cy="769441"/>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defRPr/>
            </a:pPr>
            <a:r>
              <a:rPr lang="en-US" sz="4400" dirty="0" smtClean="0">
                <a:latin typeface="Tahoma" panose="020B0604030504040204" pitchFamily="34" charset="0"/>
                <a:ea typeface="Tahoma" panose="020B0604030504040204" pitchFamily="34" charset="0"/>
                <a:cs typeface="Tahoma" panose="020B0604030504040204" pitchFamily="34" charset="0"/>
              </a:rPr>
              <a:t>Materials</a:t>
            </a:r>
            <a:endParaRPr lang="en-US" sz="4400" dirty="0">
              <a:latin typeface="Tahoma" panose="020B0604030504040204" pitchFamily="34" charset="0"/>
              <a:ea typeface="Tahoma" panose="020B0604030504040204" pitchFamily="34" charset="0"/>
              <a:cs typeface="Tahoma" panose="020B0604030504040204" pitchFamily="34" charset="0"/>
            </a:endParaRPr>
          </a:p>
        </p:txBody>
      </p:sp>
      <p:sp>
        <p:nvSpPr>
          <p:cNvPr id="14" name="TextBox 13"/>
          <p:cNvSpPr txBox="1"/>
          <p:nvPr/>
        </p:nvSpPr>
        <p:spPr>
          <a:xfrm>
            <a:off x="19659600" y="5943600"/>
            <a:ext cx="4572000" cy="769441"/>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defPPr>
              <a:defRPr lang="en-US"/>
            </a:defPPr>
            <a:lvl1pPr algn="ctr">
              <a:defRPr sz="4400">
                <a:latin typeface="Tahoma" panose="020B0604030504040204" pitchFamily="34" charset="0"/>
                <a:ea typeface="Tahoma" panose="020B0604030504040204" pitchFamily="34" charset="0"/>
                <a:cs typeface="Tahoma" panose="020B0604030504040204" pitchFamily="34" charset="0"/>
              </a:defRPr>
            </a:lvl1pPr>
          </a:lstStyle>
          <a:p>
            <a:r>
              <a:rPr lang="en-US" dirty="0"/>
              <a:t>Method</a:t>
            </a:r>
          </a:p>
        </p:txBody>
      </p:sp>
      <p:sp>
        <p:nvSpPr>
          <p:cNvPr id="15" name="TextBox 14"/>
          <p:cNvSpPr txBox="1"/>
          <p:nvPr/>
        </p:nvSpPr>
        <p:spPr>
          <a:xfrm>
            <a:off x="5486400" y="18516600"/>
            <a:ext cx="4572000" cy="769441"/>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defRPr/>
            </a:pPr>
            <a:r>
              <a:rPr lang="en-US" sz="4400" dirty="0">
                <a:latin typeface="Tahoma" panose="020B0604030504040204" pitchFamily="34" charset="0"/>
                <a:ea typeface="Tahoma" panose="020B0604030504040204" pitchFamily="34" charset="0"/>
                <a:cs typeface="Tahoma" panose="020B0604030504040204" pitchFamily="34" charset="0"/>
              </a:rPr>
              <a:t>Discussion</a:t>
            </a:r>
          </a:p>
        </p:txBody>
      </p:sp>
      <p:sp>
        <p:nvSpPr>
          <p:cNvPr id="16" name="TextBox 15"/>
          <p:cNvSpPr txBox="1"/>
          <p:nvPr/>
        </p:nvSpPr>
        <p:spPr>
          <a:xfrm>
            <a:off x="33832800" y="17449800"/>
            <a:ext cx="4572000" cy="769441"/>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defRPr/>
            </a:pPr>
            <a:r>
              <a:rPr lang="en-US" sz="4400" dirty="0">
                <a:latin typeface="Tahoma" panose="020B0604030504040204" pitchFamily="34" charset="0"/>
                <a:ea typeface="Tahoma" panose="020B0604030504040204" pitchFamily="34" charset="0"/>
                <a:cs typeface="Tahoma" panose="020B0604030504040204" pitchFamily="34" charset="0"/>
              </a:rPr>
              <a:t>References</a:t>
            </a:r>
          </a:p>
        </p:txBody>
      </p:sp>
      <p:sp>
        <p:nvSpPr>
          <p:cNvPr id="17" name="TextBox 16"/>
          <p:cNvSpPr txBox="1"/>
          <p:nvPr/>
        </p:nvSpPr>
        <p:spPr>
          <a:xfrm>
            <a:off x="33832800" y="29641800"/>
            <a:ext cx="4663440" cy="77724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defRPr/>
            </a:pPr>
            <a:r>
              <a:rPr lang="en-US" sz="4400" dirty="0" smtClean="0">
                <a:latin typeface="Tahoma" panose="020B0604030504040204" pitchFamily="34" charset="0"/>
                <a:ea typeface="Tahoma" panose="020B0604030504040204" pitchFamily="34" charset="0"/>
                <a:cs typeface="Tahoma" panose="020B0604030504040204" pitchFamily="34" charset="0"/>
              </a:rPr>
              <a:t>Acknowledgments</a:t>
            </a:r>
            <a:endParaRPr lang="en-US" sz="4400" dirty="0">
              <a:latin typeface="Tahoma" panose="020B0604030504040204" pitchFamily="34" charset="0"/>
              <a:ea typeface="Tahoma" panose="020B0604030504040204" pitchFamily="34" charset="0"/>
              <a:cs typeface="Tahoma" panose="020B0604030504040204" pitchFamily="34" charset="0"/>
            </a:endParaRPr>
          </a:p>
        </p:txBody>
      </p:sp>
      <p:sp>
        <p:nvSpPr>
          <p:cNvPr id="19" name="Rounded Rectangle 18"/>
          <p:cNvSpPr/>
          <p:nvPr/>
        </p:nvSpPr>
        <p:spPr bwMode="auto">
          <a:xfrm>
            <a:off x="29718000" y="6705600"/>
            <a:ext cx="12801600" cy="9601200"/>
          </a:xfrm>
          <a:prstGeom prst="roundRect">
            <a:avLst/>
          </a:prstGeom>
          <a:solidFill>
            <a:srgbClr val="FFFFFF"/>
          </a:solidFill>
          <a:ln w="9525"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a:lstStyle>
            <a:lvl1pPr defTabSz="3814763">
              <a:defRPr sz="10000">
                <a:solidFill>
                  <a:schemeClr val="tx1"/>
                </a:solidFill>
                <a:latin typeface="Times New Roman" pitchFamily="18" charset="0"/>
                <a:cs typeface="Arial" charset="0"/>
              </a:defRPr>
            </a:lvl1pPr>
            <a:lvl2pPr marL="742950" indent="-285750" defTabSz="3814763">
              <a:defRPr sz="10000">
                <a:solidFill>
                  <a:schemeClr val="tx1"/>
                </a:solidFill>
                <a:latin typeface="Times New Roman" pitchFamily="18" charset="0"/>
                <a:cs typeface="Arial" charset="0"/>
              </a:defRPr>
            </a:lvl2pPr>
            <a:lvl3pPr marL="1143000" indent="-228600" defTabSz="3814763">
              <a:defRPr sz="10000">
                <a:solidFill>
                  <a:schemeClr val="tx1"/>
                </a:solidFill>
                <a:latin typeface="Times New Roman" pitchFamily="18" charset="0"/>
                <a:cs typeface="Arial" charset="0"/>
              </a:defRPr>
            </a:lvl3pPr>
            <a:lvl4pPr marL="1600200" indent="-228600" defTabSz="3814763">
              <a:defRPr sz="10000">
                <a:solidFill>
                  <a:schemeClr val="tx1"/>
                </a:solidFill>
                <a:latin typeface="Times New Roman" pitchFamily="18" charset="0"/>
                <a:cs typeface="Arial" charset="0"/>
              </a:defRPr>
            </a:lvl4pPr>
            <a:lvl5pPr marL="2057400" indent="-228600" defTabSz="3814763">
              <a:defRPr sz="10000">
                <a:solidFill>
                  <a:schemeClr val="tx1"/>
                </a:solidFill>
                <a:latin typeface="Times New Roman" pitchFamily="18" charset="0"/>
                <a:cs typeface="Arial" charset="0"/>
              </a:defRPr>
            </a:lvl5pPr>
            <a:lvl6pPr marL="2514600" indent="-228600" defTabSz="3814763" fontAlgn="base">
              <a:spcBef>
                <a:spcPct val="0"/>
              </a:spcBef>
              <a:spcAft>
                <a:spcPct val="0"/>
              </a:spcAft>
              <a:defRPr sz="10000">
                <a:solidFill>
                  <a:schemeClr val="tx1"/>
                </a:solidFill>
                <a:latin typeface="Times New Roman" pitchFamily="18" charset="0"/>
                <a:cs typeface="Arial" charset="0"/>
              </a:defRPr>
            </a:lvl6pPr>
            <a:lvl7pPr marL="2971800" indent="-228600" defTabSz="3814763" fontAlgn="base">
              <a:spcBef>
                <a:spcPct val="0"/>
              </a:spcBef>
              <a:spcAft>
                <a:spcPct val="0"/>
              </a:spcAft>
              <a:defRPr sz="10000">
                <a:solidFill>
                  <a:schemeClr val="tx1"/>
                </a:solidFill>
                <a:latin typeface="Times New Roman" pitchFamily="18" charset="0"/>
                <a:cs typeface="Arial" charset="0"/>
              </a:defRPr>
            </a:lvl7pPr>
            <a:lvl8pPr marL="3429000" indent="-228600" defTabSz="3814763" fontAlgn="base">
              <a:spcBef>
                <a:spcPct val="0"/>
              </a:spcBef>
              <a:spcAft>
                <a:spcPct val="0"/>
              </a:spcAft>
              <a:defRPr sz="10000">
                <a:solidFill>
                  <a:schemeClr val="tx1"/>
                </a:solidFill>
                <a:latin typeface="Times New Roman" pitchFamily="18" charset="0"/>
                <a:cs typeface="Arial" charset="0"/>
              </a:defRPr>
            </a:lvl8pPr>
            <a:lvl9pPr marL="3886200" indent="-228600" defTabSz="3814763" fontAlgn="base">
              <a:spcBef>
                <a:spcPct val="0"/>
              </a:spcBef>
              <a:spcAft>
                <a:spcPct val="0"/>
              </a:spcAft>
              <a:defRPr sz="10000">
                <a:solidFill>
                  <a:schemeClr val="tx1"/>
                </a:solidFill>
                <a:latin typeface="Times New Roman" pitchFamily="18" charset="0"/>
                <a:cs typeface="Arial" charset="0"/>
              </a:defRPr>
            </a:lvl9pPr>
          </a:lstStyle>
          <a:p>
            <a:pPr marL="0" marR="0" lvl="0" indent="0" defTabSz="3814763" eaLnBrk="1" fontAlgn="base" latinLnBrk="0" hangingPunct="1">
              <a:lnSpc>
                <a:spcPct val="100000"/>
              </a:lnSpc>
              <a:spcBef>
                <a:spcPct val="0"/>
              </a:spcBef>
              <a:spcAft>
                <a:spcPct val="0"/>
              </a:spcAft>
              <a:buClrTx/>
              <a:buSzTx/>
              <a:buFontTx/>
              <a:buNone/>
              <a:tabLst/>
              <a:defRPr/>
            </a:pPr>
            <a:r>
              <a:rPr lang="en-US" altLang="en-US" sz="3200" kern="0" noProof="0"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altLang="en-US" sz="3200" kern="0" noProof="0" dirty="0" smtClean="0">
                <a:solidFill>
                  <a:srgbClr val="000000"/>
                </a:solidFill>
                <a:latin typeface="Tahoma" panose="020B0604030504040204" pitchFamily="34" charset="0"/>
                <a:ea typeface="Tahoma" panose="020B0604030504040204" pitchFamily="34" charset="0"/>
                <a:cs typeface="Tahoma" panose="020B0604030504040204" pitchFamily="34" charset="0"/>
              </a:rPr>
              <a:t>    The demonstration shows just how easy a SQL Injection attack can be. There is even software that will help automate the exploit and allow anyone with minimal technical skills to exploit the vulnerability. Although SQL Injection first became public in a 1998 article in </a:t>
            </a:r>
            <a:r>
              <a:rPr lang="en-US" altLang="en-US" sz="3200" kern="0" noProof="0" dirty="0" err="1" smtClean="0">
                <a:solidFill>
                  <a:srgbClr val="000000"/>
                </a:solidFill>
                <a:latin typeface="Tahoma" panose="020B0604030504040204" pitchFamily="34" charset="0"/>
                <a:ea typeface="Tahoma" panose="020B0604030504040204" pitchFamily="34" charset="0"/>
                <a:cs typeface="Tahoma" panose="020B0604030504040204" pitchFamily="34" charset="0"/>
              </a:rPr>
              <a:t>Phrack</a:t>
            </a:r>
            <a:r>
              <a:rPr lang="en-US" altLang="en-US" sz="3200" kern="0" noProof="0" dirty="0" smtClean="0">
                <a:solidFill>
                  <a:srgbClr val="000000"/>
                </a:solidFill>
                <a:latin typeface="Tahoma" panose="020B0604030504040204" pitchFamily="34" charset="0"/>
                <a:ea typeface="Tahoma" panose="020B0604030504040204" pitchFamily="34" charset="0"/>
                <a:cs typeface="Tahoma" panose="020B0604030504040204" pitchFamily="34" charset="0"/>
              </a:rPr>
              <a:t> Magazine, the vulnerability is still prevalent in today’s web applications. Many big organizations have been compromised from this vulnerability showing that SQL Injection is still a viable attack vector. </a:t>
            </a:r>
          </a:p>
          <a:p>
            <a:pPr marL="0" marR="0" lvl="0" indent="0" defTabSz="3814763" eaLnBrk="1" fontAlgn="base" latinLnBrk="0" hangingPunct="1">
              <a:lnSpc>
                <a:spcPct val="100000"/>
              </a:lnSpc>
              <a:spcBef>
                <a:spcPct val="0"/>
              </a:spcBef>
              <a:spcAft>
                <a:spcPct val="0"/>
              </a:spcAft>
              <a:buClrTx/>
              <a:buSzTx/>
              <a:buFontTx/>
              <a:buNone/>
              <a:tabLst/>
              <a:defRPr/>
            </a:pPr>
            <a:r>
              <a:rPr kumimoji="0" lang="en-US" altLang="en-US" sz="3200" b="0" i="0" u="none" strike="noStrike" kern="0" cap="none" spc="0" normalizeH="0" baseline="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altLang="en-US" sz="3200" b="0" i="0" u="none" strike="noStrike" kern="0" cap="none" spc="0" normalizeH="0" baseline="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    It is important for developers to write code that will mitigate the exploit or else organizations may face serious consequences. Big banks and tech companies deal with millions of user’s sensitive data which would be horrendous if it fell into the wrong hands. </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Companies must take preventative measures outlined by distinguished industry leaders in cyber security or else there will be dire consequences. As mentioned before, SQL Injection is one of the top web application vulnerabilities and we cannot stress how important that the </a:t>
            </a:r>
            <a:r>
              <a:rPr lang="en-US" altLang="en-US" sz="3200" kern="0" smtClean="0">
                <a:solidFill>
                  <a:srgbClr val="000000"/>
                </a:solidFill>
                <a:latin typeface="Tahoma" panose="020B0604030504040204" pitchFamily="34" charset="0"/>
                <a:ea typeface="Tahoma" panose="020B0604030504040204" pitchFamily="34" charset="0"/>
                <a:cs typeface="Tahoma" panose="020B0604030504040204" pitchFamily="34" charset="0"/>
              </a:rPr>
              <a:t>public should be </a:t>
            </a:r>
            <a:r>
              <a:rPr lang="en-US" altLang="en-US" sz="3200" kern="0" dirty="0" smtClean="0">
                <a:solidFill>
                  <a:srgbClr val="000000"/>
                </a:solidFill>
                <a:latin typeface="Tahoma" panose="020B0604030504040204" pitchFamily="34" charset="0"/>
                <a:ea typeface="Tahoma" panose="020B0604030504040204" pitchFamily="34" charset="0"/>
                <a:cs typeface="Tahoma" panose="020B0604030504040204" pitchFamily="34" charset="0"/>
              </a:rPr>
              <a:t>aware of it.</a:t>
            </a:r>
            <a:endParaRPr kumimoji="0" lang="en-US" altLang="en-US" sz="3200" b="0" i="0" u="none" strike="noStrike" kern="0" cap="none" spc="0" normalizeH="0" baseline="0" noProof="0" dirty="0" smtClean="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1" name="TextBox 20"/>
          <p:cNvSpPr txBox="1"/>
          <p:nvPr/>
        </p:nvSpPr>
        <p:spPr>
          <a:xfrm>
            <a:off x="33832800" y="5943600"/>
            <a:ext cx="4572000" cy="769441"/>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a:spAutoFit/>
          </a:bodyPr>
          <a:lstStyle/>
          <a:p>
            <a:pPr algn="ctr">
              <a:defRPr/>
            </a:pPr>
            <a:r>
              <a:rPr lang="en-US" sz="4400" dirty="0">
                <a:latin typeface="Tahoma" panose="020B0604030504040204" pitchFamily="34" charset="0"/>
                <a:ea typeface="Tahoma" panose="020B0604030504040204" pitchFamily="34" charset="0"/>
                <a:cs typeface="Tahoma" panose="020B0604030504040204" pitchFamily="34" charset="0"/>
              </a:rPr>
              <a:t>Conclusion</a:t>
            </a:r>
          </a:p>
        </p:txBody>
      </p:sp>
      <p:pic>
        <p:nvPicPr>
          <p:cNvPr id="22" name="Picture 21"/>
          <p:cNvPicPr>
            <a:picLocks noChangeAspect="1"/>
          </p:cNvPicPr>
          <p:nvPr/>
        </p:nvPicPr>
        <p:blipFill>
          <a:blip r:embed="rId2"/>
          <a:stretch>
            <a:fillRect/>
          </a:stretch>
        </p:blipFill>
        <p:spPr>
          <a:xfrm>
            <a:off x="31470600" y="1905000"/>
            <a:ext cx="9372600" cy="3318133"/>
          </a:xfrm>
          <a:prstGeom prst="rect">
            <a:avLst/>
          </a:prstGeom>
        </p:spPr>
      </p:pic>
      <p:pic>
        <p:nvPicPr>
          <p:cNvPr id="18" name="Picture 17" descr="citytechlogo_blue.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8400" y="1600200"/>
            <a:ext cx="3048000" cy="3857203"/>
          </a:xfrm>
          <a:prstGeom prst="rect">
            <a:avLst/>
          </a:prstGeom>
        </p:spPr>
      </p:pic>
      <p:pic>
        <p:nvPicPr>
          <p:cNvPr id="29" name="Picture 28" descr="Screenshot 2014-12-02 04.09.51.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00200" y="27432000"/>
            <a:ext cx="12344400" cy="6412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0" name="Picture 29" descr="Screenshot 2014-12-02 04.11.24.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00200" y="23241000"/>
            <a:ext cx="12344400" cy="2286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5" name="Picture 34" descr="Screenshot 2014-12-02 07.45.14.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773400" y="12801600"/>
            <a:ext cx="12344400" cy="7715250"/>
          </a:xfrm>
          <a:prstGeom prst="rect">
            <a:avLst/>
          </a:prstGeom>
          <a:ln>
            <a:noFill/>
          </a:ln>
          <a:effectLst>
            <a:softEdge rad="112500"/>
          </a:effectLst>
        </p:spPr>
      </p:pic>
      <p:pic>
        <p:nvPicPr>
          <p:cNvPr id="36" name="Picture 35" descr="Screenshot 2014-12-02 07.54.24.pn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773400" y="23926800"/>
            <a:ext cx="12344400" cy="7715250"/>
          </a:xfrm>
          <a:prstGeom prst="rect">
            <a:avLst/>
          </a:prstGeom>
          <a:ln>
            <a:noFill/>
          </a:ln>
          <a:effectLst>
            <a:softEdge rad="112500"/>
          </a:effectLst>
        </p:spPr>
      </p:pic>
    </p:spTree>
    <p:extLst>
      <p:ext uri="{BB962C8B-B14F-4D97-AF65-F5344CB8AC3E}">
        <p14:creationId xmlns:p14="http://schemas.microsoft.com/office/powerpoint/2010/main" val="348021914"/>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2814</TotalTime>
  <Words>778</Words>
  <Application>Microsoft Macintosh PowerPoint</Application>
  <PresentationFormat>Custom</PresentationFormat>
  <Paragraphs>63</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Nolan Hu</dc:creator>
  <cp:lastModifiedBy>Nolan</cp:lastModifiedBy>
  <cp:revision>235</cp:revision>
  <dcterms:created xsi:type="dcterms:W3CDTF">2013-11-20T17:29:51Z</dcterms:created>
  <dcterms:modified xsi:type="dcterms:W3CDTF">2014-12-19T02:43:12Z</dcterms:modified>
</cp:coreProperties>
</file>